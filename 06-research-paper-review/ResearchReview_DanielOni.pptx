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B3A67"/>
        </a:solidFill>
      </p:bgPr>
    </p:bg>
    <p:spTree>
      <p:nvGrpSpPr>
        <p:cNvPr id="1" name=""/>
        <p:cNvGrpSpPr/>
        <p:nvPr/>
      </p:nvGrpSpPr>
      <p:grpSpPr>
        <a:xfrm>
          <a:off x="0" y="0"/>
          <a:ext cx="0" cy="0"/>
          <a:chOff x="0" y="0"/>
          <a:chExt cx="0" cy="0"/>
        </a:xfrm>
      </p:grpSpPr>
      <p:sp>
        <p:nvSpPr>
          <p:cNvPr id="2" name="Text 0"/>
          <p:cNvSpPr/>
          <p:nvPr/>
        </p:nvSpPr>
        <p:spPr>
          <a:xfrm>
            <a:off x="731520" y="548640"/>
            <a:ext cx="7680960" cy="457200"/>
          </a:xfrm>
          <a:prstGeom prst="rect">
            <a:avLst/>
          </a:prstGeom>
          <a:noFill/>
          <a:ln/>
        </p:spPr>
        <p:txBody>
          <a:bodyPr wrap="square" rtlCol="0" anchor="ctr"/>
          <a:lstStyle/>
          <a:p>
            <a:pPr indent="0" marL="0">
              <a:buNone/>
            </a:pPr>
            <a:r>
              <a:rPr lang="en-US" sz="1400" dirty="0">
                <a:solidFill>
                  <a:srgbClr val="4A7FB5"/>
                </a:solidFill>
                <a:latin typeface="Calibri" pitchFamily="34" charset="0"/>
                <a:ea typeface="Calibri" pitchFamily="34" charset="-122"/>
                <a:cs typeface="Calibri" pitchFamily="34" charset="-120"/>
              </a:rPr>
              <a:t>Paper 1 — ACM TOG</a:t>
            </a:r>
            <a:endParaRPr lang="en-US" sz="1400" dirty="0"/>
          </a:p>
        </p:txBody>
      </p:sp>
      <p:sp>
        <p:nvSpPr>
          <p:cNvPr id="3" name="Text 1"/>
          <p:cNvSpPr/>
          <p:nvPr/>
        </p:nvSpPr>
        <p:spPr>
          <a:xfrm>
            <a:off x="731520" y="1097280"/>
            <a:ext cx="7680960" cy="1828800"/>
          </a:xfrm>
          <a:prstGeom prst="rect">
            <a:avLst/>
          </a:prstGeom>
          <a:noFill/>
          <a:ln/>
        </p:spPr>
        <p:txBody>
          <a:bodyPr wrap="square" rtlCol="0" anchor="ctr"/>
          <a:lstStyle/>
          <a:p>
            <a:pPr indent="0" marL="0">
              <a:lnSpc>
                <a:spcPct val="110000"/>
              </a:lnSpc>
              <a:buNone/>
            </a:pPr>
            <a:r>
              <a:rPr lang="en-US" sz="2800" b="1" dirty="0">
                <a:solidFill>
                  <a:srgbClr val="FFFFFF"/>
                </a:solidFill>
                <a:latin typeface="Calibri" pitchFamily="34" charset="0"/>
                <a:ea typeface="Calibri" pitchFamily="34" charset="-122"/>
                <a:cs typeface="Calibri" pitchFamily="34" charset="-120"/>
              </a:rPr>
              <a:t>One Noise to Rule Them All:</a:t>
            </a:r>
            <a:endParaRPr lang="en-US" sz="2800" dirty="0"/>
          </a:p>
          <a:p>
            <a:pPr indent="0" marL="0">
              <a:lnSpc>
                <a:spcPct val="110000"/>
              </a:lnSpc>
              <a:buNone/>
            </a:pPr>
            <a:r>
              <a:rPr lang="en-US" sz="2800" b="1" dirty="0">
                <a:solidFill>
                  <a:srgbClr val="FFFFFF"/>
                </a:solidFill>
                <a:latin typeface="Calibri" pitchFamily="34" charset="0"/>
                <a:ea typeface="Calibri" pitchFamily="34" charset="-122"/>
                <a:cs typeface="Calibri" pitchFamily="34" charset="-120"/>
              </a:rPr>
              <a:t>Learning a Unified Model of</a:t>
            </a:r>
            <a:endParaRPr lang="en-US" sz="2800" dirty="0"/>
          </a:p>
          <a:p>
            <a:pPr indent="0" marL="0">
              <a:lnSpc>
                <a:spcPct val="110000"/>
              </a:lnSpc>
              <a:buNone/>
            </a:pPr>
            <a:r>
              <a:rPr lang="en-US" sz="2800" b="1" dirty="0">
                <a:solidFill>
                  <a:srgbClr val="FFFFFF"/>
                </a:solidFill>
                <a:latin typeface="Calibri" pitchFamily="34" charset="0"/>
                <a:ea typeface="Calibri" pitchFamily="34" charset="-122"/>
                <a:cs typeface="Calibri" pitchFamily="34" charset="-120"/>
              </a:rPr>
              <a:t>Spatially-Varying Noise Patterns</a:t>
            </a:r>
            <a:endParaRPr lang="en-US" sz="2800" dirty="0"/>
          </a:p>
        </p:txBody>
      </p:sp>
      <p:sp>
        <p:nvSpPr>
          <p:cNvPr id="4" name="Text 2"/>
          <p:cNvSpPr/>
          <p:nvPr/>
        </p:nvSpPr>
        <p:spPr>
          <a:xfrm>
            <a:off x="731520" y="3200400"/>
            <a:ext cx="7680960" cy="731520"/>
          </a:xfrm>
          <a:prstGeom prst="rect">
            <a:avLst/>
          </a:prstGeom>
          <a:noFill/>
          <a:ln/>
        </p:spPr>
        <p:txBody>
          <a:bodyPr wrap="square" rtlCol="0" anchor="ctr"/>
          <a:lstStyle/>
          <a:p>
            <a:pPr indent="0" marL="0">
              <a:lnSpc>
                <a:spcPct val="130000"/>
              </a:lnSpc>
              <a:buNone/>
            </a:pPr>
            <a:r>
              <a:rPr lang="en-US" sz="1200" dirty="0">
                <a:solidFill>
                  <a:srgbClr val="888888"/>
                </a:solidFill>
                <a:latin typeface="Calibri" pitchFamily="34" charset="0"/>
                <a:ea typeface="Calibri" pitchFamily="34" charset="-122"/>
                <a:cs typeface="Calibri" pitchFamily="34" charset="-120"/>
              </a:rPr>
              <a:t>Maesumi, Sharpe, Kim, et al.</a:t>
            </a:r>
            <a:endParaRPr lang="en-US" sz="1200" dirty="0"/>
          </a:p>
          <a:p>
            <a:pPr indent="0" marL="0">
              <a:lnSpc>
                <a:spcPct val="130000"/>
              </a:lnSpc>
              <a:buNone/>
            </a:pPr>
            <a:r>
              <a:rPr lang="en-US" sz="1200" dirty="0">
                <a:solidFill>
                  <a:srgbClr val="888888"/>
                </a:solidFill>
                <a:latin typeface="Calibri" pitchFamily="34" charset="0"/>
                <a:ea typeface="Calibri" pitchFamily="34" charset="-122"/>
                <a:cs typeface="Calibri" pitchFamily="34" charset="-120"/>
              </a:rPr>
              <a:t>ACM Transactions on Graphics, Vol. 43, No. 4, 2024</a:t>
            </a:r>
            <a:endParaRPr lang="en-US" sz="1200" dirty="0"/>
          </a:p>
        </p:txBody>
      </p:sp>
      <p:sp>
        <p:nvSpPr>
          <p:cNvPr id="5" name="Text 3"/>
          <p:cNvSpPr/>
          <p:nvPr/>
        </p:nvSpPr>
        <p:spPr>
          <a:xfrm>
            <a:off x="731520" y="4206240"/>
            <a:ext cx="7680960" cy="457200"/>
          </a:xfrm>
          <a:prstGeom prst="rect">
            <a:avLst/>
          </a:prstGeom>
          <a:noFill/>
          <a:ln/>
        </p:spPr>
        <p:txBody>
          <a:bodyPr wrap="square" rtlCol="0" anchor="ctr"/>
          <a:lstStyle/>
          <a:p>
            <a:pPr indent="0" marL="0">
              <a:buNone/>
            </a:pPr>
            <a:r>
              <a:rPr lang="en-US" sz="1200" dirty="0">
                <a:solidFill>
                  <a:srgbClr val="888888"/>
                </a:solidFill>
                <a:latin typeface="Calibri" pitchFamily="34" charset="0"/>
                <a:ea typeface="Calibri" pitchFamily="34" charset="-122"/>
                <a:cs typeface="Calibri" pitchFamily="34" charset="-120"/>
              </a:rPr>
              <a:t>Daniel Oni  |  CS 5382 Computer Graphics</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0"/>
          </a:xfrm>
          <a:prstGeom prst="rect">
            <a:avLst/>
          </a:prstGeom>
          <a:solidFill>
            <a:srgbClr val="2B3A67"/>
          </a:solidFill>
          <a:ln/>
        </p:spPr>
      </p:sp>
      <p:sp>
        <p:nvSpPr>
          <p:cNvPr id="3" name="Text 1"/>
          <p:cNvSpPr/>
          <p:nvPr/>
        </p:nvSpPr>
        <p:spPr>
          <a:xfrm>
            <a:off x="731520" y="73152"/>
            <a:ext cx="7680960" cy="411480"/>
          </a:xfrm>
          <a:prstGeom prst="rect">
            <a:avLst/>
          </a:prstGeom>
          <a:noFill/>
          <a:ln/>
        </p:spPr>
        <p:txBody>
          <a:bodyPr wrap="square"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Summary: The Problem &amp; Approach</a:t>
            </a:r>
            <a:endParaRPr lang="en-US" sz="1600" dirty="0"/>
          </a:p>
        </p:txBody>
      </p:sp>
      <p:sp>
        <p:nvSpPr>
          <p:cNvPr id="4" name="Text 2"/>
          <p:cNvSpPr/>
          <p:nvPr/>
        </p:nvSpPr>
        <p:spPr>
          <a:xfrm>
            <a:off x="731520" y="822960"/>
            <a:ext cx="7680960" cy="365760"/>
          </a:xfrm>
          <a:prstGeom prst="rect">
            <a:avLst/>
          </a:prstGeom>
          <a:noFill/>
          <a:ln/>
        </p:spPr>
        <p:txBody>
          <a:bodyPr wrap="square" rtlCol="0" anchor="ctr"/>
          <a:lstStyle/>
          <a:p>
            <a:pPr indent="0" marL="0">
              <a:buNone/>
            </a:pPr>
            <a:r>
              <a:rPr lang="en-US" sz="1600" b="1" dirty="0">
                <a:solidFill>
                  <a:srgbClr val="2B3A67"/>
                </a:solidFill>
                <a:latin typeface="Calibri" pitchFamily="34" charset="0"/>
                <a:ea typeface="Calibri" pitchFamily="34" charset="-122"/>
                <a:cs typeface="Calibri" pitchFamily="34" charset="-120"/>
              </a:rPr>
              <a:t>The Problem</a:t>
            </a:r>
            <a:endParaRPr lang="en-US" sz="1600" dirty="0"/>
          </a:p>
        </p:txBody>
      </p:sp>
      <p:sp>
        <p:nvSpPr>
          <p:cNvPr id="5" name="Text 3"/>
          <p:cNvSpPr/>
          <p:nvPr/>
        </p:nvSpPr>
        <p:spPr>
          <a:xfrm>
            <a:off x="731520" y="1188720"/>
            <a:ext cx="7680960" cy="1280160"/>
          </a:xfrm>
          <a:prstGeom prst="rect">
            <a:avLst/>
          </a:prstGeom>
          <a:noFill/>
          <a:ln/>
        </p:spPr>
        <p:txBody>
          <a:bodyPr wrap="square" rtlCol="0" anchor="ctr"/>
          <a:lstStyle/>
          <a:p>
            <a:pPr marL="342900" indent="-342900">
              <a:spcAft>
                <a:spcPts val="600"/>
              </a:spcAft>
              <a:buSzPct val="100000"/>
              <a:buChar char="•"/>
            </a:pPr>
            <a:r>
              <a:rPr lang="en-US" sz="1300" dirty="0">
                <a:solidFill>
                  <a:srgbClr val="333333"/>
                </a:solidFill>
                <a:latin typeface="Calibri" pitchFamily="34" charset="0"/>
                <a:ea typeface="Calibri" pitchFamily="34" charset="-122"/>
                <a:cs typeface="Calibri" pitchFamily="34" charset="-120"/>
              </a:rPr>
              <a:t>Procedural noise functions (Perlin, Worley, Gabor, etc.) are central to texturing in graphics</a:t>
            </a:r>
            <a:endParaRPr lang="en-US" sz="1300" dirty="0"/>
          </a:p>
          <a:p>
            <a:pPr marL="342900" indent="-342900">
              <a:spcAft>
                <a:spcPts val="600"/>
              </a:spcAft>
              <a:buSzPct val="100000"/>
              <a:buChar char="•"/>
            </a:pPr>
            <a:r>
              <a:rPr lang="en-US" sz="1300" dirty="0">
                <a:solidFill>
                  <a:srgbClr val="333333"/>
                </a:solidFill>
                <a:latin typeface="Calibri" pitchFamily="34" charset="0"/>
                <a:ea typeface="Calibri" pitchFamily="34" charset="-122"/>
                <a:cs typeface="Calibri" pitchFamily="34" charset="-120"/>
              </a:rPr>
              <a:t>Each noise type is a separate algorithm with its own parameters — no single model can produce all of them</a:t>
            </a:r>
            <a:endParaRPr lang="en-US" sz="1300" dirty="0"/>
          </a:p>
          <a:p>
            <a:pPr marL="342900" indent="-342900">
              <a:spcAft>
                <a:spcPts val="600"/>
              </a:spcAft>
              <a:buSzPct val="100000"/>
              <a:buChar char="•"/>
            </a:pPr>
            <a:r>
              <a:rPr lang="en-US" sz="1300" dirty="0">
                <a:solidFill>
                  <a:srgbClr val="333333"/>
                </a:solidFill>
                <a:latin typeface="Calibri" pitchFamily="34" charset="0"/>
                <a:ea typeface="Calibri" pitchFamily="34" charset="-122"/>
                <a:cs typeface="Calibri" pitchFamily="34" charset="-120"/>
              </a:rPr>
              <a:t>Artists have to switch tools and manually tune each one</a:t>
            </a:r>
            <a:endParaRPr lang="en-US" sz="1300" dirty="0"/>
          </a:p>
        </p:txBody>
      </p:sp>
      <p:sp>
        <p:nvSpPr>
          <p:cNvPr id="6" name="Text 4"/>
          <p:cNvSpPr/>
          <p:nvPr/>
        </p:nvSpPr>
        <p:spPr>
          <a:xfrm>
            <a:off x="731520" y="2560320"/>
            <a:ext cx="7680960" cy="365760"/>
          </a:xfrm>
          <a:prstGeom prst="rect">
            <a:avLst/>
          </a:prstGeom>
          <a:noFill/>
          <a:ln/>
        </p:spPr>
        <p:txBody>
          <a:bodyPr wrap="square" rtlCol="0" anchor="ctr"/>
          <a:lstStyle/>
          <a:p>
            <a:pPr indent="0" marL="0">
              <a:buNone/>
            </a:pPr>
            <a:r>
              <a:rPr lang="en-US" sz="1600" b="1" dirty="0">
                <a:solidFill>
                  <a:srgbClr val="2B3A67"/>
                </a:solidFill>
                <a:latin typeface="Calibri" pitchFamily="34" charset="0"/>
                <a:ea typeface="Calibri" pitchFamily="34" charset="-122"/>
                <a:cs typeface="Calibri" pitchFamily="34" charset="-120"/>
              </a:rPr>
              <a:t>Their Approach</a:t>
            </a:r>
            <a:endParaRPr lang="en-US" sz="1600" dirty="0"/>
          </a:p>
        </p:txBody>
      </p:sp>
      <p:sp>
        <p:nvSpPr>
          <p:cNvPr id="7" name="Text 5"/>
          <p:cNvSpPr/>
          <p:nvPr/>
        </p:nvSpPr>
        <p:spPr>
          <a:xfrm>
            <a:off x="731520" y="2926080"/>
            <a:ext cx="7680960" cy="1280160"/>
          </a:xfrm>
          <a:prstGeom prst="rect">
            <a:avLst/>
          </a:prstGeom>
          <a:noFill/>
          <a:ln/>
        </p:spPr>
        <p:txBody>
          <a:bodyPr wrap="square" rtlCol="0" anchor="ctr"/>
          <a:lstStyle/>
          <a:p>
            <a:pPr marL="342900" indent="-342900">
              <a:spcAft>
                <a:spcPts val="600"/>
              </a:spcAft>
              <a:buSzPct val="100000"/>
              <a:buChar char="•"/>
            </a:pPr>
            <a:r>
              <a:rPr lang="en-US" sz="1300" dirty="0">
                <a:solidFill>
                  <a:srgbClr val="333333"/>
                </a:solidFill>
                <a:latin typeface="Calibri" pitchFamily="34" charset="0"/>
                <a:ea typeface="Calibri" pitchFamily="34" charset="-122"/>
                <a:cs typeface="Calibri" pitchFamily="34" charset="-120"/>
              </a:rPr>
              <a:t>Train a single diffusion model that learns the distribution of many noise types at once</a:t>
            </a:r>
            <a:endParaRPr lang="en-US" sz="1300" dirty="0"/>
          </a:p>
          <a:p>
            <a:pPr marL="342900" indent="-342900">
              <a:spcAft>
                <a:spcPts val="600"/>
              </a:spcAft>
              <a:buSzPct val="100000"/>
              <a:buChar char="•"/>
            </a:pPr>
            <a:r>
              <a:rPr lang="en-US" sz="1300" dirty="0">
                <a:solidFill>
                  <a:srgbClr val="333333"/>
                </a:solidFill>
                <a:latin typeface="Calibri" pitchFamily="34" charset="0"/>
                <a:ea typeface="Calibri" pitchFamily="34" charset="-122"/>
                <a:cs typeface="Calibri" pitchFamily="34" charset="-120"/>
              </a:rPr>
              <a:t>Model takes a conditioning input ("what kind of noise?") and generates the pattern</a:t>
            </a:r>
            <a:endParaRPr lang="en-US" sz="1300" dirty="0"/>
          </a:p>
          <a:p>
            <a:pPr marL="342900" indent="-342900">
              <a:spcAft>
                <a:spcPts val="600"/>
              </a:spcAft>
              <a:buSzPct val="100000"/>
              <a:buChar char="•"/>
            </a:pPr>
            <a:r>
              <a:rPr lang="en-US" sz="1300" dirty="0">
                <a:solidFill>
                  <a:srgbClr val="333333"/>
                </a:solidFill>
                <a:latin typeface="Calibri" pitchFamily="34" charset="0"/>
                <a:ea typeface="Calibri" pitchFamily="34" charset="-122"/>
                <a:cs typeface="Calibri" pitchFamily="34" charset="-120"/>
              </a:rPr>
              <a:t>One model replaces many separate noise generators</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0"/>
          </a:xfrm>
          <a:prstGeom prst="rect">
            <a:avLst/>
          </a:prstGeom>
          <a:solidFill>
            <a:srgbClr val="2B3A67"/>
          </a:solidFill>
          <a:ln/>
        </p:spPr>
      </p:sp>
      <p:sp>
        <p:nvSpPr>
          <p:cNvPr id="3" name="Text 1"/>
          <p:cNvSpPr/>
          <p:nvPr/>
        </p:nvSpPr>
        <p:spPr>
          <a:xfrm>
            <a:off x="731520" y="73152"/>
            <a:ext cx="7680960" cy="411480"/>
          </a:xfrm>
          <a:prstGeom prst="rect">
            <a:avLst/>
          </a:prstGeom>
          <a:noFill/>
          <a:ln/>
        </p:spPr>
        <p:txBody>
          <a:bodyPr wrap="square"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Summary: What They Achieved</a:t>
            </a:r>
            <a:endParaRPr lang="en-US" sz="1600" dirty="0"/>
          </a:p>
        </p:txBody>
      </p:sp>
      <p:sp>
        <p:nvSpPr>
          <p:cNvPr id="4" name="Text 2"/>
          <p:cNvSpPr/>
          <p:nvPr/>
        </p:nvSpPr>
        <p:spPr>
          <a:xfrm>
            <a:off x="731520" y="822960"/>
            <a:ext cx="7680960" cy="2926080"/>
          </a:xfrm>
          <a:prstGeom prst="rect">
            <a:avLst/>
          </a:prstGeom>
          <a:noFill/>
          <a:ln/>
        </p:spPr>
        <p:txBody>
          <a:bodyPr wrap="square" rtlCol="0" anchor="t"/>
          <a:lstStyle/>
          <a:p>
            <a:pPr indent="0" marL="0">
              <a:buNone/>
            </a:pPr>
            <a:r>
              <a:rPr lang="en-US" sz="1400" b="1" dirty="0">
                <a:solidFill>
                  <a:srgbClr val="2B3A67"/>
                </a:solidFill>
                <a:latin typeface="Calibri" pitchFamily="34" charset="0"/>
                <a:ea typeface="Calibri" pitchFamily="34" charset="-122"/>
                <a:cs typeface="Calibri" pitchFamily="34" charset="-120"/>
              </a:rPr>
              <a:t>Unified Generation</a:t>
            </a:r>
            <a:endParaRPr lang="en-US" sz="1400" dirty="0"/>
          </a:p>
          <a:p>
            <a:pPr indent="0" marL="0">
              <a:buNone/>
            </a:pPr>
            <a:r>
              <a:rPr lang="en-US" sz="1300" dirty="0">
                <a:solidFill>
                  <a:srgbClr val="333333"/>
                </a:solidFill>
                <a:latin typeface="Calibri" pitchFamily="34" charset="0"/>
                <a:ea typeface="Calibri" pitchFamily="34" charset="-122"/>
                <a:cs typeface="Calibri" pitchFamily="34" charset="-120"/>
              </a:rPr>
              <a:t>Produces Perlin, Worley, Gabor, and other noise types from one trained model — no algorithm switching.</a:t>
            </a:r>
            <a:endParaRPr lang="en-US" sz="1400" dirty="0"/>
          </a:p>
          <a:p>
            <a:pPr indent="0" marL="0">
              <a:buNone/>
            </a:pPr>
            <a:endParaRPr lang="en-US" sz="1400" dirty="0"/>
          </a:p>
          <a:p>
            <a:pPr indent="0" marL="0">
              <a:buNone/>
            </a:pPr>
            <a:r>
              <a:rPr lang="en-US" sz="1400" b="1" dirty="0">
                <a:solidFill>
                  <a:srgbClr val="2B3A67"/>
                </a:solidFill>
                <a:latin typeface="Calibri" pitchFamily="34" charset="0"/>
                <a:ea typeface="Calibri" pitchFamily="34" charset="-122"/>
                <a:cs typeface="Calibri" pitchFamily="34" charset="-120"/>
              </a:rPr>
              <a:t>Spatial Variation</a:t>
            </a:r>
            <a:endParaRPr lang="en-US" sz="1400" dirty="0"/>
          </a:p>
          <a:p>
            <a:pPr indent="0" marL="0">
              <a:buNone/>
            </a:pPr>
            <a:r>
              <a:rPr lang="en-US" sz="1300" dirty="0">
                <a:solidFill>
                  <a:srgbClr val="333333"/>
                </a:solidFill>
                <a:latin typeface="Calibri" pitchFamily="34" charset="0"/>
                <a:ea typeface="Calibri" pitchFamily="34" charset="-122"/>
                <a:cs typeface="Calibri" pitchFamily="34" charset="-120"/>
              </a:rPr>
              <a:t>Can smoothly blend between noise types within a single texture for richer materials.</a:t>
            </a:r>
            <a:endParaRPr lang="en-US" sz="1400" dirty="0"/>
          </a:p>
          <a:p>
            <a:pPr indent="0" marL="0">
              <a:buNone/>
            </a:pPr>
            <a:endParaRPr lang="en-US" sz="1400" dirty="0"/>
          </a:p>
          <a:p>
            <a:pPr indent="0" marL="0">
              <a:buNone/>
            </a:pPr>
            <a:r>
              <a:rPr lang="en-US" sz="1400" b="1" dirty="0">
                <a:solidFill>
                  <a:srgbClr val="2B3A67"/>
                </a:solidFill>
                <a:latin typeface="Calibri" pitchFamily="34" charset="0"/>
                <a:ea typeface="Calibri" pitchFamily="34" charset="-122"/>
                <a:cs typeface="Calibri" pitchFamily="34" charset="-120"/>
              </a:rPr>
              <a:t>User Control</a:t>
            </a:r>
            <a:endParaRPr lang="en-US" sz="1400" dirty="0"/>
          </a:p>
          <a:p>
            <a:pPr indent="0" marL="0">
              <a:buNone/>
            </a:pPr>
            <a:r>
              <a:rPr lang="en-US" sz="1300" dirty="0">
                <a:solidFill>
                  <a:srgbClr val="333333"/>
                </a:solidFill>
                <a:latin typeface="Calibri" pitchFamily="34" charset="0"/>
                <a:ea typeface="Calibri" pitchFamily="34" charset="-122"/>
                <a:cs typeface="Calibri" pitchFamily="34" charset="-120"/>
              </a:rPr>
              <a:t>Artists steer output through intuitive conditioning — pick noise type, scale, orientation without tuning math parameters.</a:t>
            </a:r>
            <a:endParaRPr lang="en-US" sz="1400" dirty="0"/>
          </a:p>
        </p:txBody>
      </p:sp>
      <p:sp>
        <p:nvSpPr>
          <p:cNvPr id="5" name="Text 3"/>
          <p:cNvSpPr/>
          <p:nvPr/>
        </p:nvSpPr>
        <p:spPr>
          <a:xfrm>
            <a:off x="731520" y="3931920"/>
            <a:ext cx="7680960" cy="548640"/>
          </a:xfrm>
          <a:prstGeom prst="rect">
            <a:avLst/>
          </a:prstGeom>
          <a:noFill/>
          <a:ln/>
        </p:spPr>
        <p:txBody>
          <a:bodyPr wrap="square" rtlCol="0" anchor="ctr"/>
          <a:lstStyle/>
          <a:p>
            <a:pPr indent="0" marL="0">
              <a:buNone/>
            </a:pPr>
            <a:r>
              <a:rPr lang="en-US" sz="1200" i="1" dirty="0">
                <a:solidFill>
                  <a:srgbClr val="888888"/>
                </a:solidFill>
                <a:latin typeface="Calibri" pitchFamily="34" charset="0"/>
                <a:ea typeface="Calibri" pitchFamily="34" charset="-122"/>
                <a:cs typeface="Calibri" pitchFamily="34" charset="-120"/>
              </a:rPr>
              <a:t>Key idea: Deep generative models can learn the space of procedural noise, unifying 40 years of handcrafted algorithms.</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0"/>
          </a:xfrm>
          <a:prstGeom prst="rect">
            <a:avLst/>
          </a:prstGeom>
          <a:solidFill>
            <a:srgbClr val="2B3A67"/>
          </a:solidFill>
          <a:ln/>
        </p:spPr>
      </p:sp>
      <p:sp>
        <p:nvSpPr>
          <p:cNvPr id="3" name="Text 1"/>
          <p:cNvSpPr/>
          <p:nvPr/>
        </p:nvSpPr>
        <p:spPr>
          <a:xfrm>
            <a:off x="731520" y="73152"/>
            <a:ext cx="7680960" cy="411480"/>
          </a:xfrm>
          <a:prstGeom prst="rect">
            <a:avLst/>
          </a:prstGeom>
          <a:noFill/>
          <a:ln/>
        </p:spPr>
        <p:txBody>
          <a:bodyPr wrap="square"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Synthesis: My Takeaways</a:t>
            </a:r>
            <a:endParaRPr lang="en-US" sz="1600" dirty="0"/>
          </a:p>
        </p:txBody>
      </p:sp>
      <p:sp>
        <p:nvSpPr>
          <p:cNvPr id="4" name="Text 2"/>
          <p:cNvSpPr/>
          <p:nvPr/>
        </p:nvSpPr>
        <p:spPr>
          <a:xfrm>
            <a:off x="731520" y="822960"/>
            <a:ext cx="7680960" cy="3657600"/>
          </a:xfrm>
          <a:prstGeom prst="rect">
            <a:avLst/>
          </a:prstGeom>
          <a:noFill/>
          <a:ln/>
        </p:spPr>
        <p:txBody>
          <a:bodyPr wrap="square" rtlCol="0" anchor="t"/>
          <a:lstStyle/>
          <a:p>
            <a:pPr indent="0" marL="0">
              <a:buNone/>
            </a:pPr>
            <a:r>
              <a:rPr lang="en-US" sz="1400" b="1" dirty="0">
                <a:solidFill>
                  <a:srgbClr val="2B3A67"/>
                </a:solidFill>
                <a:latin typeface="Calibri" pitchFamily="34" charset="0"/>
                <a:ea typeface="Calibri" pitchFamily="34" charset="-122"/>
                <a:cs typeface="Calibri" pitchFamily="34" charset="-120"/>
              </a:rPr>
              <a:t>Connection to Perlin</a:t>
            </a:r>
            <a:endParaRPr lang="en-US" sz="1400" dirty="0"/>
          </a:p>
          <a:p>
            <a:pPr indent="0" marL="0">
              <a:buNone/>
            </a:pPr>
            <a:r>
              <a:rPr lang="en-US" sz="1300" dirty="0">
                <a:solidFill>
                  <a:srgbClr val="333333"/>
                </a:solidFill>
                <a:latin typeface="Calibri" pitchFamily="34" charset="0"/>
                <a:ea typeface="Calibri" pitchFamily="34" charset="-122"/>
                <a:cs typeface="Calibri" pitchFamily="34" charset="-120"/>
              </a:rPr>
              <a:t>This paper is basically a 2024 sequel to what Ken Perlin started in 1985. Perlin invented the noise function; these authors are asking, "What if we could learn all the noise functions at once?" It's a natural evolution, but now powered by deep learning instead of handcrafted math.</a:t>
            </a:r>
            <a:endParaRPr lang="en-US" sz="1400" dirty="0"/>
          </a:p>
          <a:p>
            <a:pPr indent="0" marL="0">
              <a:buNone/>
            </a:pPr>
            <a:endParaRPr lang="en-US" sz="1400" dirty="0"/>
          </a:p>
          <a:p>
            <a:pPr indent="0" marL="0">
              <a:buNone/>
            </a:pPr>
            <a:r>
              <a:rPr lang="en-US" sz="1400" b="1" dirty="0">
                <a:solidFill>
                  <a:srgbClr val="2B3A67"/>
                </a:solidFill>
                <a:latin typeface="Calibri" pitchFamily="34" charset="0"/>
                <a:ea typeface="Calibri" pitchFamily="34" charset="-122"/>
                <a:cs typeface="Calibri" pitchFamily="34" charset="-120"/>
              </a:rPr>
              <a:t>What excites me</a:t>
            </a:r>
            <a:endParaRPr lang="en-US" sz="1400" dirty="0"/>
          </a:p>
          <a:p>
            <a:pPr indent="0" marL="0">
              <a:buNone/>
            </a:pPr>
            <a:r>
              <a:rPr lang="en-US" sz="1300" dirty="0">
                <a:solidFill>
                  <a:srgbClr val="333333"/>
                </a:solidFill>
                <a:latin typeface="Calibri" pitchFamily="34" charset="0"/>
                <a:ea typeface="Calibri" pitchFamily="34" charset="-122"/>
                <a:cs typeface="Calibri" pitchFamily="34" charset="-120"/>
              </a:rPr>
              <a:t>As someone studying cybersecurity alongside graphics, I appreciate that this is about replacing many fragile, hand-tuned tools with one robust model. That's a pattern we see everywhere — generalization over specialization.</a:t>
            </a:r>
            <a:endParaRPr lang="en-US" sz="1400" dirty="0"/>
          </a:p>
          <a:p>
            <a:pPr indent="0" marL="0">
              <a:buNone/>
            </a:pPr>
            <a:endParaRPr lang="en-US" sz="1400" dirty="0"/>
          </a:p>
          <a:p>
            <a:pPr indent="0" marL="0">
              <a:buNone/>
            </a:pPr>
            <a:r>
              <a:rPr lang="en-US" sz="1400" b="1" dirty="0">
                <a:solidFill>
                  <a:srgbClr val="2B3A67"/>
                </a:solidFill>
                <a:latin typeface="Calibri" pitchFamily="34" charset="0"/>
                <a:ea typeface="Calibri" pitchFamily="34" charset="-122"/>
                <a:cs typeface="Calibri" pitchFamily="34" charset="-120"/>
              </a:rPr>
              <a:t>Broader implications</a:t>
            </a:r>
            <a:endParaRPr lang="en-US" sz="1400" dirty="0"/>
          </a:p>
          <a:p>
            <a:pPr indent="0" marL="0">
              <a:buNone/>
            </a:pPr>
            <a:r>
              <a:rPr lang="en-US" sz="1300" dirty="0">
                <a:solidFill>
                  <a:srgbClr val="333333"/>
                </a:solidFill>
                <a:latin typeface="Calibri" pitchFamily="34" charset="0"/>
                <a:ea typeface="Calibri" pitchFamily="34" charset="-122"/>
                <a:cs typeface="Calibri" pitchFamily="34" charset="-120"/>
              </a:rPr>
              <a:t>If one model can replace dozens of procedural algorithms, it changes the workflow for game devs and VFX artists. Can similar unification happen for other procedural graphics tools?</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5F5F5"/>
        </a:solidFill>
      </p:bgPr>
    </p:bg>
    <p:spTree>
      <p:nvGrpSpPr>
        <p:cNvPr id="1" name=""/>
        <p:cNvGrpSpPr/>
        <p:nvPr/>
      </p:nvGrpSpPr>
      <p:grpSpPr>
        <a:xfrm>
          <a:off x="0" y="0"/>
          <a:ext cx="0" cy="0"/>
          <a:chOff x="0" y="0"/>
          <a:chExt cx="0" cy="0"/>
        </a:xfrm>
      </p:grpSpPr>
      <p:sp>
        <p:nvSpPr>
          <p:cNvPr id="2" name="Text 0"/>
          <p:cNvSpPr/>
          <p:nvPr/>
        </p:nvSpPr>
        <p:spPr>
          <a:xfrm>
            <a:off x="731520" y="1645920"/>
            <a:ext cx="7680960" cy="731520"/>
          </a:xfrm>
          <a:prstGeom prst="rect">
            <a:avLst/>
          </a:prstGeom>
          <a:noFill/>
          <a:ln/>
        </p:spPr>
        <p:txBody>
          <a:bodyPr wrap="square" rtlCol="0" anchor="ctr"/>
          <a:lstStyle/>
          <a:p>
            <a:pPr indent="0" marL="0">
              <a:buNone/>
            </a:pPr>
            <a:r>
              <a:rPr lang="en-US" sz="3200" b="1" dirty="0">
                <a:solidFill>
                  <a:srgbClr val="2B3A67"/>
                </a:solidFill>
                <a:latin typeface="Calibri" pitchFamily="34" charset="0"/>
                <a:ea typeface="Calibri" pitchFamily="34" charset="-122"/>
                <a:cs typeface="Calibri" pitchFamily="34" charset="-120"/>
              </a:rPr>
              <a:t>Paper 2</a:t>
            </a:r>
            <a:endParaRPr lang="en-US" sz="3200" dirty="0"/>
          </a:p>
        </p:txBody>
      </p:sp>
      <p:sp>
        <p:nvSpPr>
          <p:cNvPr id="3" name="Text 1"/>
          <p:cNvSpPr/>
          <p:nvPr/>
        </p:nvSpPr>
        <p:spPr>
          <a:xfrm>
            <a:off x="731520" y="2468880"/>
            <a:ext cx="7680960" cy="457200"/>
          </a:xfrm>
          <a:prstGeom prst="rect">
            <a:avLst/>
          </a:prstGeom>
          <a:noFill/>
          <a:ln/>
        </p:spPr>
        <p:txBody>
          <a:bodyPr wrap="square" rtlCol="0" anchor="ctr"/>
          <a:lstStyle/>
          <a:p>
            <a:pPr indent="0" marL="0">
              <a:buNone/>
            </a:pPr>
            <a:r>
              <a:rPr lang="en-US" sz="1400" dirty="0">
                <a:solidFill>
                  <a:srgbClr val="888888"/>
                </a:solidFill>
                <a:latin typeface="Calibri" pitchFamily="34" charset="0"/>
                <a:ea typeface="Calibri" pitchFamily="34" charset="-122"/>
                <a:cs typeface="Calibri" pitchFamily="34" charset="-120"/>
              </a:rPr>
              <a:t>IEEE TVCG  |  Medical Visualization  |  Gaussian Splatting</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2B3A67"/>
        </a:solidFill>
      </p:bgPr>
    </p:bg>
    <p:spTree>
      <p:nvGrpSpPr>
        <p:cNvPr id="1" name=""/>
        <p:cNvGrpSpPr/>
        <p:nvPr/>
      </p:nvGrpSpPr>
      <p:grpSpPr>
        <a:xfrm>
          <a:off x="0" y="0"/>
          <a:ext cx="0" cy="0"/>
          <a:chOff x="0" y="0"/>
          <a:chExt cx="0" cy="0"/>
        </a:xfrm>
      </p:grpSpPr>
      <p:sp>
        <p:nvSpPr>
          <p:cNvPr id="2" name="Text 0"/>
          <p:cNvSpPr/>
          <p:nvPr/>
        </p:nvSpPr>
        <p:spPr>
          <a:xfrm>
            <a:off x="731520" y="548640"/>
            <a:ext cx="7680960" cy="457200"/>
          </a:xfrm>
          <a:prstGeom prst="rect">
            <a:avLst/>
          </a:prstGeom>
          <a:noFill/>
          <a:ln/>
        </p:spPr>
        <p:txBody>
          <a:bodyPr wrap="square" rtlCol="0" anchor="ctr"/>
          <a:lstStyle/>
          <a:p>
            <a:pPr indent="0" marL="0">
              <a:buNone/>
            </a:pPr>
            <a:r>
              <a:rPr lang="en-US" sz="1400" dirty="0">
                <a:solidFill>
                  <a:srgbClr val="4A7FB5"/>
                </a:solidFill>
                <a:latin typeface="Calibri" pitchFamily="34" charset="0"/>
                <a:ea typeface="Calibri" pitchFamily="34" charset="-122"/>
                <a:cs typeface="Calibri" pitchFamily="34" charset="-120"/>
              </a:rPr>
              <a:t>Paper 2 — IEEE TVCG</a:t>
            </a:r>
            <a:endParaRPr lang="en-US" sz="1400" dirty="0"/>
          </a:p>
        </p:txBody>
      </p:sp>
      <p:sp>
        <p:nvSpPr>
          <p:cNvPr id="3" name="Text 1"/>
          <p:cNvSpPr/>
          <p:nvPr/>
        </p:nvSpPr>
        <p:spPr>
          <a:xfrm>
            <a:off x="731520" y="1097280"/>
            <a:ext cx="7680960" cy="1463040"/>
          </a:xfrm>
          <a:prstGeom prst="rect">
            <a:avLst/>
          </a:prstGeom>
          <a:noFill/>
          <a:ln/>
        </p:spPr>
        <p:txBody>
          <a:bodyPr wrap="square" rtlCol="0" anchor="ctr"/>
          <a:lstStyle/>
          <a:p>
            <a:pPr indent="0" marL="0">
              <a:lnSpc>
                <a:spcPct val="110000"/>
              </a:lnSpc>
              <a:buNone/>
            </a:pPr>
            <a:r>
              <a:rPr lang="en-US" sz="2800" b="1" dirty="0">
                <a:solidFill>
                  <a:srgbClr val="FFFFFF"/>
                </a:solidFill>
                <a:latin typeface="Calibri" pitchFamily="34" charset="0"/>
                <a:ea typeface="Calibri" pitchFamily="34" charset="-122"/>
                <a:cs typeface="Calibri" pitchFamily="34" charset="-120"/>
              </a:rPr>
              <a:t>Multi-Layer Gaussian Splatting</a:t>
            </a:r>
            <a:endParaRPr lang="en-US" sz="2800" dirty="0"/>
          </a:p>
          <a:p>
            <a:pPr indent="0" marL="0">
              <a:lnSpc>
                <a:spcPct val="110000"/>
              </a:lnSpc>
              <a:buNone/>
            </a:pPr>
            <a:r>
              <a:rPr lang="en-US" sz="2800" b="1" dirty="0">
                <a:solidFill>
                  <a:srgbClr val="FFFFFF"/>
                </a:solidFill>
                <a:latin typeface="Calibri" pitchFamily="34" charset="0"/>
                <a:ea typeface="Calibri" pitchFamily="34" charset="-122"/>
                <a:cs typeface="Calibri" pitchFamily="34" charset="-120"/>
              </a:rPr>
              <a:t>for Immersive Anatomy Visualization</a:t>
            </a:r>
            <a:endParaRPr lang="en-US" sz="2800" dirty="0"/>
          </a:p>
        </p:txBody>
      </p:sp>
      <p:sp>
        <p:nvSpPr>
          <p:cNvPr id="4" name="Text 2"/>
          <p:cNvSpPr/>
          <p:nvPr/>
        </p:nvSpPr>
        <p:spPr>
          <a:xfrm>
            <a:off x="731520" y="2926080"/>
            <a:ext cx="7680960" cy="731520"/>
          </a:xfrm>
          <a:prstGeom prst="rect">
            <a:avLst/>
          </a:prstGeom>
          <a:noFill/>
          <a:ln/>
        </p:spPr>
        <p:txBody>
          <a:bodyPr wrap="square" rtlCol="0" anchor="ctr"/>
          <a:lstStyle/>
          <a:p>
            <a:pPr indent="0" marL="0">
              <a:lnSpc>
                <a:spcPct val="130000"/>
              </a:lnSpc>
              <a:buNone/>
            </a:pPr>
            <a:r>
              <a:rPr lang="en-US" sz="1200" dirty="0">
                <a:solidFill>
                  <a:srgbClr val="888888"/>
                </a:solidFill>
                <a:latin typeface="Calibri" pitchFamily="34" charset="0"/>
                <a:ea typeface="Calibri" pitchFamily="34" charset="-122"/>
                <a:cs typeface="Calibri" pitchFamily="34" charset="-120"/>
              </a:rPr>
              <a:t>Kleinbeck, Busch, Gasteiger, et al.</a:t>
            </a:r>
            <a:endParaRPr lang="en-US" sz="1200" dirty="0"/>
          </a:p>
          <a:p>
            <a:pPr indent="0" marL="0">
              <a:lnSpc>
                <a:spcPct val="130000"/>
              </a:lnSpc>
              <a:buNone/>
            </a:pPr>
            <a:r>
              <a:rPr lang="en-US" sz="1200" dirty="0">
                <a:solidFill>
                  <a:srgbClr val="888888"/>
                </a:solidFill>
                <a:latin typeface="Calibri" pitchFamily="34" charset="0"/>
                <a:ea typeface="Calibri" pitchFamily="34" charset="-122"/>
                <a:cs typeface="Calibri" pitchFamily="34" charset="-120"/>
              </a:rPr>
              <a:t>IEEE Trans. Visualization &amp; Computer Graphics, Vol. 31, No. 5, 2025</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0"/>
          </a:xfrm>
          <a:prstGeom prst="rect">
            <a:avLst/>
          </a:prstGeom>
          <a:solidFill>
            <a:srgbClr val="2B3A67"/>
          </a:solidFill>
          <a:ln/>
        </p:spPr>
      </p:sp>
      <p:sp>
        <p:nvSpPr>
          <p:cNvPr id="3" name="Text 1"/>
          <p:cNvSpPr/>
          <p:nvPr/>
        </p:nvSpPr>
        <p:spPr>
          <a:xfrm>
            <a:off x="731520" y="73152"/>
            <a:ext cx="7680960" cy="411480"/>
          </a:xfrm>
          <a:prstGeom prst="rect">
            <a:avLst/>
          </a:prstGeom>
          <a:noFill/>
          <a:ln/>
        </p:spPr>
        <p:txBody>
          <a:bodyPr wrap="square"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Summary: The Problem &amp; Approach</a:t>
            </a:r>
            <a:endParaRPr lang="en-US" sz="1600" dirty="0"/>
          </a:p>
        </p:txBody>
      </p:sp>
      <p:sp>
        <p:nvSpPr>
          <p:cNvPr id="4" name="Text 2"/>
          <p:cNvSpPr/>
          <p:nvPr/>
        </p:nvSpPr>
        <p:spPr>
          <a:xfrm>
            <a:off x="731520" y="822960"/>
            <a:ext cx="7680960" cy="365760"/>
          </a:xfrm>
          <a:prstGeom prst="rect">
            <a:avLst/>
          </a:prstGeom>
          <a:noFill/>
          <a:ln/>
        </p:spPr>
        <p:txBody>
          <a:bodyPr wrap="square" rtlCol="0" anchor="ctr"/>
          <a:lstStyle/>
          <a:p>
            <a:pPr indent="0" marL="0">
              <a:buNone/>
            </a:pPr>
            <a:r>
              <a:rPr lang="en-US" sz="1600" b="1" dirty="0">
                <a:solidFill>
                  <a:srgbClr val="2B3A67"/>
                </a:solidFill>
                <a:latin typeface="Calibri" pitchFamily="34" charset="0"/>
                <a:ea typeface="Calibri" pitchFamily="34" charset="-122"/>
                <a:cs typeface="Calibri" pitchFamily="34" charset="-120"/>
              </a:rPr>
              <a:t>The Problem</a:t>
            </a:r>
            <a:endParaRPr lang="en-US" sz="1600" dirty="0"/>
          </a:p>
        </p:txBody>
      </p:sp>
      <p:sp>
        <p:nvSpPr>
          <p:cNvPr id="5" name="Text 3"/>
          <p:cNvSpPr/>
          <p:nvPr/>
        </p:nvSpPr>
        <p:spPr>
          <a:xfrm>
            <a:off x="731520" y="1188720"/>
            <a:ext cx="7680960" cy="1280160"/>
          </a:xfrm>
          <a:prstGeom prst="rect">
            <a:avLst/>
          </a:prstGeom>
          <a:noFill/>
          <a:ln/>
        </p:spPr>
        <p:txBody>
          <a:bodyPr wrap="square" rtlCol="0" anchor="ctr"/>
          <a:lstStyle/>
          <a:p>
            <a:pPr marL="342900" indent="-342900">
              <a:spcAft>
                <a:spcPts val="600"/>
              </a:spcAft>
              <a:buSzPct val="100000"/>
              <a:buChar char="•"/>
            </a:pPr>
            <a:r>
              <a:rPr lang="en-US" sz="1300" dirty="0">
                <a:solidFill>
                  <a:srgbClr val="333333"/>
                </a:solidFill>
                <a:latin typeface="Calibri" pitchFamily="34" charset="0"/>
                <a:ea typeface="Calibri" pitchFamily="34" charset="-122"/>
                <a:cs typeface="Calibri" pitchFamily="34" charset="-120"/>
              </a:rPr>
              <a:t>Doctors and students want to view CT scans in VR — exploring anatomy interactively in 3D</a:t>
            </a:r>
            <a:endParaRPr lang="en-US" sz="1300" dirty="0"/>
          </a:p>
          <a:p>
            <a:pPr marL="342900" indent="-342900">
              <a:spcAft>
                <a:spcPts val="600"/>
              </a:spcAft>
              <a:buSzPct val="100000"/>
              <a:buChar char="•"/>
            </a:pPr>
            <a:r>
              <a:rPr lang="en-US" sz="1300" dirty="0">
                <a:solidFill>
                  <a:srgbClr val="333333"/>
                </a:solidFill>
                <a:latin typeface="Calibri" pitchFamily="34" charset="0"/>
                <a:ea typeface="Calibri" pitchFamily="34" charset="-122"/>
                <a:cs typeface="Calibri" pitchFamily="34" charset="-120"/>
              </a:rPr>
              <a:t>Traditional volume rendering is too expensive for mobile VR headsets like the Meta Quest</a:t>
            </a:r>
            <a:endParaRPr lang="en-US" sz="1300" dirty="0"/>
          </a:p>
          <a:p>
            <a:pPr marL="342900" indent="-342900">
              <a:spcAft>
                <a:spcPts val="600"/>
              </a:spcAft>
              <a:buSzPct val="100000"/>
              <a:buChar char="•"/>
            </a:pPr>
            <a:r>
              <a:rPr lang="en-US" sz="1300" dirty="0">
                <a:solidFill>
                  <a:srgbClr val="333333"/>
                </a:solidFill>
                <a:latin typeface="Calibri" pitchFamily="34" charset="0"/>
                <a:ea typeface="Calibri" pitchFamily="34" charset="-122"/>
                <a:cs typeface="Calibri" pitchFamily="34" charset="-120"/>
              </a:rPr>
              <a:t>Standard 3D Gaussian Splatting treats the volume as one blob — can't peel back layers</a:t>
            </a:r>
            <a:endParaRPr lang="en-US" sz="1300" dirty="0"/>
          </a:p>
        </p:txBody>
      </p:sp>
      <p:sp>
        <p:nvSpPr>
          <p:cNvPr id="6" name="Text 4"/>
          <p:cNvSpPr/>
          <p:nvPr/>
        </p:nvSpPr>
        <p:spPr>
          <a:xfrm>
            <a:off x="731520" y="2560320"/>
            <a:ext cx="7680960" cy="365760"/>
          </a:xfrm>
          <a:prstGeom prst="rect">
            <a:avLst/>
          </a:prstGeom>
          <a:noFill/>
          <a:ln/>
        </p:spPr>
        <p:txBody>
          <a:bodyPr wrap="square" rtlCol="0" anchor="ctr"/>
          <a:lstStyle/>
          <a:p>
            <a:pPr indent="0" marL="0">
              <a:buNone/>
            </a:pPr>
            <a:r>
              <a:rPr lang="en-US" sz="1600" b="1" dirty="0">
                <a:solidFill>
                  <a:srgbClr val="2B3A67"/>
                </a:solidFill>
                <a:latin typeface="Calibri" pitchFamily="34" charset="0"/>
                <a:ea typeface="Calibri" pitchFamily="34" charset="-122"/>
                <a:cs typeface="Calibri" pitchFamily="34" charset="-120"/>
              </a:rPr>
              <a:t>Their Approach</a:t>
            </a:r>
            <a:endParaRPr lang="en-US" sz="1600" dirty="0"/>
          </a:p>
        </p:txBody>
      </p:sp>
      <p:sp>
        <p:nvSpPr>
          <p:cNvPr id="7" name="Text 5"/>
          <p:cNvSpPr/>
          <p:nvPr/>
        </p:nvSpPr>
        <p:spPr>
          <a:xfrm>
            <a:off x="731520" y="2926080"/>
            <a:ext cx="7680960" cy="1280160"/>
          </a:xfrm>
          <a:prstGeom prst="rect">
            <a:avLst/>
          </a:prstGeom>
          <a:noFill/>
          <a:ln/>
        </p:spPr>
        <p:txBody>
          <a:bodyPr wrap="square" rtlCol="0" anchor="ctr"/>
          <a:lstStyle/>
          <a:p>
            <a:pPr marL="342900" indent="-342900">
              <a:spcAft>
                <a:spcPts val="600"/>
              </a:spcAft>
              <a:buSzPct val="100000"/>
              <a:buChar char="•"/>
            </a:pPr>
            <a:r>
              <a:rPr lang="en-US" sz="1300" dirty="0">
                <a:solidFill>
                  <a:srgbClr val="333333"/>
                </a:solidFill>
                <a:latin typeface="Calibri" pitchFamily="34" charset="0"/>
                <a:ea typeface="Calibri" pitchFamily="34" charset="-122"/>
                <a:cs typeface="Calibri" pitchFamily="34" charset="-120"/>
              </a:rPr>
              <a:t>Organize Gaussian splats into semantic layers — skin, bone, organs, vasculature — each toggleable</a:t>
            </a:r>
            <a:endParaRPr lang="en-US" sz="1300" dirty="0"/>
          </a:p>
          <a:p>
            <a:pPr marL="342900" indent="-342900">
              <a:spcAft>
                <a:spcPts val="600"/>
              </a:spcAft>
              <a:buSzPct val="100000"/>
              <a:buChar char="•"/>
            </a:pPr>
            <a:r>
              <a:rPr lang="en-US" sz="1300" dirty="0">
                <a:solidFill>
                  <a:srgbClr val="333333"/>
                </a:solidFill>
                <a:latin typeface="Calibri" pitchFamily="34" charset="0"/>
                <a:ea typeface="Calibri" pitchFamily="34" charset="-122"/>
                <a:cs typeface="Calibri" pitchFamily="34" charset="-120"/>
              </a:rPr>
              <a:t>A transfer function assigns each tissue type to its own layer during training</a:t>
            </a:r>
            <a:endParaRPr lang="en-US" sz="1300" dirty="0"/>
          </a:p>
          <a:p>
            <a:pPr marL="342900" indent="-342900">
              <a:spcAft>
                <a:spcPts val="600"/>
              </a:spcAft>
              <a:buSzPct val="100000"/>
              <a:buChar char="•"/>
            </a:pPr>
            <a:r>
              <a:rPr lang="en-US" sz="1300" dirty="0">
                <a:solidFill>
                  <a:srgbClr val="333333"/>
                </a:solidFill>
                <a:latin typeface="Calibri" pitchFamily="34" charset="0"/>
                <a:ea typeface="Calibri" pitchFamily="34" charset="-122"/>
                <a:cs typeface="Calibri" pitchFamily="34" charset="-120"/>
              </a:rPr>
              <a:t>Result renders fast enough for real-time VR on standalone headsets</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0"/>
          </a:xfrm>
          <a:prstGeom prst="rect">
            <a:avLst/>
          </a:prstGeom>
          <a:solidFill>
            <a:srgbClr val="2B3A67"/>
          </a:solidFill>
          <a:ln/>
        </p:spPr>
      </p:sp>
      <p:sp>
        <p:nvSpPr>
          <p:cNvPr id="3" name="Text 1"/>
          <p:cNvSpPr/>
          <p:nvPr/>
        </p:nvSpPr>
        <p:spPr>
          <a:xfrm>
            <a:off x="731520" y="73152"/>
            <a:ext cx="7680960" cy="411480"/>
          </a:xfrm>
          <a:prstGeom prst="rect">
            <a:avLst/>
          </a:prstGeom>
          <a:noFill/>
          <a:ln/>
        </p:spPr>
        <p:txBody>
          <a:bodyPr wrap="square"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Summary: What They Achieved</a:t>
            </a:r>
            <a:endParaRPr lang="en-US" sz="1600" dirty="0"/>
          </a:p>
        </p:txBody>
      </p:sp>
      <p:sp>
        <p:nvSpPr>
          <p:cNvPr id="4" name="Text 2"/>
          <p:cNvSpPr/>
          <p:nvPr/>
        </p:nvSpPr>
        <p:spPr>
          <a:xfrm>
            <a:off x="731520" y="822960"/>
            <a:ext cx="7680960" cy="2926080"/>
          </a:xfrm>
          <a:prstGeom prst="rect">
            <a:avLst/>
          </a:prstGeom>
          <a:noFill/>
          <a:ln/>
        </p:spPr>
        <p:txBody>
          <a:bodyPr wrap="square" rtlCol="0" anchor="t"/>
          <a:lstStyle/>
          <a:p>
            <a:pPr indent="0" marL="0">
              <a:buNone/>
            </a:pPr>
            <a:r>
              <a:rPr lang="en-US" sz="1400" b="1" dirty="0">
                <a:solidFill>
                  <a:srgbClr val="2B3A67"/>
                </a:solidFill>
                <a:latin typeface="Calibri" pitchFamily="34" charset="0"/>
                <a:ea typeface="Calibri" pitchFamily="34" charset="-122"/>
                <a:cs typeface="Calibri" pitchFamily="34" charset="-120"/>
              </a:rPr>
              <a:t>Real-Time VR</a:t>
            </a:r>
            <a:endParaRPr lang="en-US" sz="1400" dirty="0"/>
          </a:p>
          <a:p>
            <a:pPr indent="0" marL="0">
              <a:buNone/>
            </a:pPr>
            <a:r>
              <a:rPr lang="en-US" sz="1300" dirty="0">
                <a:solidFill>
                  <a:srgbClr val="333333"/>
                </a:solidFill>
                <a:latin typeface="Calibri" pitchFamily="34" charset="0"/>
                <a:ea typeface="Calibri" pitchFamily="34" charset="-122"/>
                <a:cs typeface="Calibri" pitchFamily="34" charset="-120"/>
              </a:rPr>
              <a:t>Achieves interactive frame rates on the Meta Quest 3 — a standalone mobile headset, no tethered desktop GPU needed.</a:t>
            </a:r>
            <a:endParaRPr lang="en-US" sz="1400" dirty="0"/>
          </a:p>
          <a:p>
            <a:pPr indent="0" marL="0">
              <a:buNone/>
            </a:pPr>
            <a:endParaRPr lang="en-US" sz="1400" dirty="0"/>
          </a:p>
          <a:p>
            <a:pPr indent="0" marL="0">
              <a:buNone/>
            </a:pPr>
            <a:r>
              <a:rPr lang="en-US" sz="1400" b="1" dirty="0">
                <a:solidFill>
                  <a:srgbClr val="2B3A67"/>
                </a:solidFill>
                <a:latin typeface="Calibri" pitchFamily="34" charset="0"/>
                <a:ea typeface="Calibri" pitchFamily="34" charset="-122"/>
                <a:cs typeface="Calibri" pitchFamily="34" charset="-120"/>
              </a:rPr>
              <a:t>Layer Control</a:t>
            </a:r>
            <a:endParaRPr lang="en-US" sz="1400" dirty="0"/>
          </a:p>
          <a:p>
            <a:pPr indent="0" marL="0">
              <a:buNone/>
            </a:pPr>
            <a:r>
              <a:rPr lang="en-US" sz="1300" dirty="0">
                <a:solidFill>
                  <a:srgbClr val="333333"/>
                </a:solidFill>
                <a:latin typeface="Calibri" pitchFamily="34" charset="0"/>
                <a:ea typeface="Calibri" pitchFamily="34" charset="-122"/>
                <a:cs typeface="Calibri" pitchFamily="34" charset="-120"/>
              </a:rPr>
              <a:t>Users can toggle anatomy layers on/off — hide skin to see muscle, hide muscle to see bone — all in real time.</a:t>
            </a:r>
            <a:endParaRPr lang="en-US" sz="1400" dirty="0"/>
          </a:p>
          <a:p>
            <a:pPr indent="0" marL="0">
              <a:buNone/>
            </a:pPr>
            <a:endParaRPr lang="en-US" sz="1400" dirty="0"/>
          </a:p>
          <a:p>
            <a:pPr indent="0" marL="0">
              <a:buNone/>
            </a:pPr>
            <a:r>
              <a:rPr lang="en-US" sz="1400" b="1" dirty="0">
                <a:solidFill>
                  <a:srgbClr val="2B3A67"/>
                </a:solidFill>
                <a:latin typeface="Calibri" pitchFamily="34" charset="0"/>
                <a:ea typeface="Calibri" pitchFamily="34" charset="-122"/>
                <a:cs typeface="Calibri" pitchFamily="34" charset="-120"/>
              </a:rPr>
              <a:t>Visual Quality</a:t>
            </a:r>
            <a:endParaRPr lang="en-US" sz="1400" dirty="0"/>
          </a:p>
          <a:p>
            <a:pPr indent="0" marL="0">
              <a:buNone/>
            </a:pPr>
            <a:r>
              <a:rPr lang="en-US" sz="1300" dirty="0">
                <a:solidFill>
                  <a:srgbClr val="333333"/>
                </a:solidFill>
                <a:latin typeface="Calibri" pitchFamily="34" charset="0"/>
                <a:ea typeface="Calibri" pitchFamily="34" charset="-122"/>
                <a:cs typeface="Calibri" pitchFamily="34" charset="-120"/>
              </a:rPr>
              <a:t>Matches or approaches the quality of traditional volume rendering while running at a fraction of the computational cost.</a:t>
            </a:r>
            <a:endParaRPr lang="en-US" sz="1400" dirty="0"/>
          </a:p>
        </p:txBody>
      </p:sp>
      <p:sp>
        <p:nvSpPr>
          <p:cNvPr id="5" name="Text 3"/>
          <p:cNvSpPr/>
          <p:nvPr/>
        </p:nvSpPr>
        <p:spPr>
          <a:xfrm>
            <a:off x="731520" y="3931920"/>
            <a:ext cx="7680960" cy="548640"/>
          </a:xfrm>
          <a:prstGeom prst="rect">
            <a:avLst/>
          </a:prstGeom>
          <a:noFill/>
          <a:ln/>
        </p:spPr>
        <p:txBody>
          <a:bodyPr wrap="square" rtlCol="0" anchor="ctr"/>
          <a:lstStyle/>
          <a:p>
            <a:pPr indent="0" marL="0">
              <a:buNone/>
            </a:pPr>
            <a:r>
              <a:rPr lang="en-US" sz="1200" i="1" dirty="0">
                <a:solidFill>
                  <a:srgbClr val="888888"/>
                </a:solidFill>
                <a:latin typeface="Calibri" pitchFamily="34" charset="0"/>
                <a:ea typeface="Calibri" pitchFamily="34" charset="-122"/>
                <a:cs typeface="Calibri" pitchFamily="34" charset="-120"/>
              </a:rPr>
              <a:t>Key idea: Gaussian Splatting + semantic layering = real-time, explorable anatomy on consumer VR hardware.</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0"/>
          </a:xfrm>
          <a:prstGeom prst="rect">
            <a:avLst/>
          </a:prstGeom>
          <a:solidFill>
            <a:srgbClr val="2B3A67"/>
          </a:solidFill>
          <a:ln/>
        </p:spPr>
      </p:sp>
      <p:sp>
        <p:nvSpPr>
          <p:cNvPr id="3" name="Text 1"/>
          <p:cNvSpPr/>
          <p:nvPr/>
        </p:nvSpPr>
        <p:spPr>
          <a:xfrm>
            <a:off x="731520" y="73152"/>
            <a:ext cx="7680960" cy="411480"/>
          </a:xfrm>
          <a:prstGeom prst="rect">
            <a:avLst/>
          </a:prstGeom>
          <a:noFill/>
          <a:ln/>
        </p:spPr>
        <p:txBody>
          <a:bodyPr wrap="square"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Synthesis: My Takeaways</a:t>
            </a:r>
            <a:endParaRPr lang="en-US" sz="1600" dirty="0"/>
          </a:p>
        </p:txBody>
      </p:sp>
      <p:sp>
        <p:nvSpPr>
          <p:cNvPr id="4" name="Text 2"/>
          <p:cNvSpPr/>
          <p:nvPr/>
        </p:nvSpPr>
        <p:spPr>
          <a:xfrm>
            <a:off x="731520" y="822960"/>
            <a:ext cx="7680960" cy="3657600"/>
          </a:xfrm>
          <a:prstGeom prst="rect">
            <a:avLst/>
          </a:prstGeom>
          <a:noFill/>
          <a:ln/>
        </p:spPr>
        <p:txBody>
          <a:bodyPr wrap="square" rtlCol="0" anchor="t"/>
          <a:lstStyle/>
          <a:p>
            <a:pPr indent="0" marL="0">
              <a:buNone/>
            </a:pPr>
            <a:r>
              <a:rPr lang="en-US" sz="1400" b="1" dirty="0">
                <a:solidFill>
                  <a:srgbClr val="2B3A67"/>
                </a:solidFill>
                <a:latin typeface="Calibri" pitchFamily="34" charset="0"/>
                <a:ea typeface="Calibri" pitchFamily="34" charset="-122"/>
                <a:cs typeface="Calibri" pitchFamily="34" charset="-120"/>
              </a:rPr>
              <a:t>Course connection</a:t>
            </a:r>
            <a:endParaRPr lang="en-US" sz="1400" dirty="0"/>
          </a:p>
          <a:p>
            <a:pPr indent="0" marL="0">
              <a:buNone/>
            </a:pPr>
            <a:r>
              <a:rPr lang="en-US" sz="1300" dirty="0">
                <a:solidFill>
                  <a:srgbClr val="333333"/>
                </a:solidFill>
                <a:latin typeface="Calibri" pitchFamily="34" charset="0"/>
                <a:ea typeface="Calibri" pitchFamily="34" charset="-122"/>
                <a:cs typeface="Calibri" pitchFamily="34" charset="-120"/>
              </a:rPr>
              <a:t>In class we've been building the rendering pipeline from scratch — vertices, fragments, buffers. This paper shows where that pipeline is headed: neural representations that skip polygons and render directly from learned point clouds.</a:t>
            </a:r>
            <a:endParaRPr lang="en-US" sz="1400" dirty="0"/>
          </a:p>
          <a:p>
            <a:pPr indent="0" marL="0">
              <a:buNone/>
            </a:pPr>
            <a:endParaRPr lang="en-US" sz="1400" dirty="0"/>
          </a:p>
          <a:p>
            <a:pPr indent="0" marL="0">
              <a:buNone/>
            </a:pPr>
            <a:r>
              <a:rPr lang="en-US" sz="1400" b="1" dirty="0">
                <a:solidFill>
                  <a:srgbClr val="2B3A67"/>
                </a:solidFill>
                <a:latin typeface="Calibri" pitchFamily="34" charset="0"/>
                <a:ea typeface="Calibri" pitchFamily="34" charset="-122"/>
                <a:cs typeface="Calibri" pitchFamily="34" charset="-120"/>
              </a:rPr>
              <a:t>Why this matters to me</a:t>
            </a:r>
            <a:endParaRPr lang="en-US" sz="1400" dirty="0"/>
          </a:p>
          <a:p>
            <a:pPr indent="0" marL="0">
              <a:buNone/>
            </a:pPr>
            <a:r>
              <a:rPr lang="en-US" sz="1300" dirty="0">
                <a:solidFill>
                  <a:srgbClr val="333333"/>
                </a:solidFill>
                <a:latin typeface="Calibri" pitchFamily="34" charset="0"/>
                <a:ea typeface="Calibri" pitchFamily="34" charset="-122"/>
                <a:cs typeface="Calibri" pitchFamily="34" charset="-120"/>
              </a:rPr>
              <a:t>Coming from cybersecurity, I think about access and democratization. This paper takes expensive medical visualization that normally requires a powerful workstation and puts it on a $500 headset. That could change medical education.</a:t>
            </a:r>
            <a:endParaRPr lang="en-US" sz="1400" dirty="0"/>
          </a:p>
          <a:p>
            <a:pPr indent="0" marL="0">
              <a:buNone/>
            </a:pPr>
            <a:endParaRPr lang="en-US" sz="1400" dirty="0"/>
          </a:p>
          <a:p>
            <a:pPr indent="0" marL="0">
              <a:buNone/>
            </a:pPr>
            <a:r>
              <a:rPr lang="en-US" sz="1400" b="1" dirty="0">
                <a:solidFill>
                  <a:srgbClr val="2B3A67"/>
                </a:solidFill>
                <a:latin typeface="Calibri" pitchFamily="34" charset="0"/>
                <a:ea typeface="Calibri" pitchFamily="34" charset="-122"/>
                <a:cs typeface="Calibri" pitchFamily="34" charset="-120"/>
              </a:rPr>
              <a:t>Connecting the two papers</a:t>
            </a:r>
            <a:endParaRPr lang="en-US" sz="1400" dirty="0"/>
          </a:p>
          <a:p>
            <a:pPr indent="0" marL="0">
              <a:buNone/>
            </a:pPr>
            <a:r>
              <a:rPr lang="en-US" sz="1300" dirty="0">
                <a:solidFill>
                  <a:srgbClr val="333333"/>
                </a:solidFill>
                <a:latin typeface="Calibri" pitchFamily="34" charset="0"/>
                <a:ea typeface="Calibri" pitchFamily="34" charset="-122"/>
                <a:cs typeface="Calibri" pitchFamily="34" charset="-120"/>
              </a:rPr>
              <a:t>Both papers use modern ML to simplify things that used to require specialized tools. One unifies noise algorithms, the other makes volume rendering portable. The field is moving toward learned, general-purpose representations.</a:t>
            </a:r>
            <a:endParaRPr lang="en-US" sz="1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2B3A67"/>
        </a:solidFill>
      </p:bgPr>
    </p:bg>
    <p:spTree>
      <p:nvGrpSpPr>
        <p:cNvPr id="1" name=""/>
        <p:cNvGrpSpPr/>
        <p:nvPr/>
      </p:nvGrpSpPr>
      <p:grpSpPr>
        <a:xfrm>
          <a:off x="0" y="0"/>
          <a:ext cx="0" cy="0"/>
          <a:chOff x="0" y="0"/>
          <a:chExt cx="0" cy="0"/>
        </a:xfrm>
      </p:grpSpPr>
      <p:sp>
        <p:nvSpPr>
          <p:cNvPr id="2" name="Text 0"/>
          <p:cNvSpPr/>
          <p:nvPr/>
        </p:nvSpPr>
        <p:spPr>
          <a:xfrm>
            <a:off x="731520" y="1645920"/>
            <a:ext cx="7680960" cy="914400"/>
          </a:xfrm>
          <a:prstGeom prst="rect">
            <a:avLst/>
          </a:prstGeom>
          <a:noFill/>
          <a:ln/>
        </p:spPr>
        <p:txBody>
          <a:bodyPr wrap="square" rtlCol="0" anchor="ctr"/>
          <a:lstStyle/>
          <a:p>
            <a:pPr algn="ctr" indent="0" marL="0">
              <a:buNone/>
            </a:pPr>
            <a:r>
              <a:rPr lang="en-US" sz="3600" b="1" dirty="0">
                <a:solidFill>
                  <a:srgbClr val="FFFFFF"/>
                </a:solidFill>
                <a:latin typeface="Calibri" pitchFamily="34" charset="0"/>
                <a:ea typeface="Calibri" pitchFamily="34" charset="-122"/>
                <a:cs typeface="Calibri" pitchFamily="34" charset="-120"/>
              </a:rPr>
              <a:t>Thank You</a:t>
            </a:r>
            <a:endParaRPr lang="en-US" sz="3600" dirty="0"/>
          </a:p>
        </p:txBody>
      </p:sp>
      <p:sp>
        <p:nvSpPr>
          <p:cNvPr id="3" name="Text 1"/>
          <p:cNvSpPr/>
          <p:nvPr/>
        </p:nvSpPr>
        <p:spPr>
          <a:xfrm>
            <a:off x="731520" y="2743200"/>
            <a:ext cx="7680960" cy="457200"/>
          </a:xfrm>
          <a:prstGeom prst="rect">
            <a:avLst/>
          </a:prstGeom>
          <a:noFill/>
          <a:ln/>
        </p:spPr>
        <p:txBody>
          <a:bodyPr wrap="square" rtlCol="0" anchor="ctr"/>
          <a:lstStyle/>
          <a:p>
            <a:pPr algn="ctr" indent="0" marL="0">
              <a:buNone/>
            </a:pPr>
            <a:r>
              <a:rPr lang="en-US" sz="1400" dirty="0">
                <a:solidFill>
                  <a:srgbClr val="888888"/>
                </a:solidFill>
                <a:latin typeface="Calibri" pitchFamily="34" charset="0"/>
                <a:ea typeface="Calibri" pitchFamily="34" charset="-122"/>
                <a:cs typeface="Calibri" pitchFamily="34" charset="-120"/>
              </a:rPr>
              <a:t>Daniel Oni  |  CS 5382 Computer Graphics  |  Spring 2026</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Current Research Literature Review</dc:title>
  <dc:subject>PptxGenJS Presentation</dc:subject>
  <dc:creator>Daniel Oni</dc:creator>
  <cp:lastModifiedBy>Daniel Oni</cp:lastModifiedBy>
  <cp:revision>1</cp:revision>
  <dcterms:created xsi:type="dcterms:W3CDTF">2026-10-27T16:53:32Z</dcterms:created>
  <dcterms:modified xsi:type="dcterms:W3CDTF">2026-10-27T16:53:32Z</dcterms:modified>
</cp:coreProperties>
</file>