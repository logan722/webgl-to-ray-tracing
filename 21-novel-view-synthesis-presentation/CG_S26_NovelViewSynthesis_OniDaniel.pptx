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47120" y="1371600"/>
            <a:ext cx="164592" cy="164592"/>
          </a:xfrm>
          <a:prstGeom prst="ellipse">
            <a:avLst/>
          </a:prstGeom>
          <a:solidFill>
            <a:srgbClr val="5B6BD8">
              <a:alpha val="70000"/>
            </a:srgbClr>
          </a:solidFill>
          <a:ln w="12700">
            <a:solidFill>
              <a:srgbClr val="5B6B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39520" y="1965960"/>
            <a:ext cx="237744" cy="237744"/>
          </a:xfrm>
          <a:prstGeom prst="ellipse">
            <a:avLst/>
          </a:prstGeom>
          <a:solidFill>
            <a:srgbClr val="5B6BD8">
              <a:alpha val="66000"/>
            </a:srgbClr>
          </a:solidFill>
          <a:ln w="12700">
            <a:solidFill>
              <a:srgbClr val="5B6B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73828" y="2560320"/>
            <a:ext cx="310896" cy="310896"/>
          </a:xfrm>
          <a:prstGeom prst="ellipse">
            <a:avLst/>
          </a:prstGeom>
          <a:solidFill>
            <a:srgbClr val="5B6BD8">
              <a:alpha val="62000"/>
            </a:srgbClr>
          </a:solidFill>
          <a:ln w="12700">
            <a:solidFill>
              <a:srgbClr val="5B6B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02470" y="3154680"/>
            <a:ext cx="164592" cy="164592"/>
          </a:xfrm>
          <a:prstGeom prst="ellipse">
            <a:avLst/>
          </a:prstGeom>
          <a:solidFill>
            <a:srgbClr val="5B6BD8">
              <a:alpha val="58000"/>
            </a:srgbClr>
          </a:solidFill>
          <a:ln w="12700">
            <a:solidFill>
              <a:srgbClr val="5B6B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06482" y="3749040"/>
            <a:ext cx="237744" cy="237744"/>
          </a:xfrm>
          <a:prstGeom prst="ellipse">
            <a:avLst/>
          </a:prstGeom>
          <a:solidFill>
            <a:srgbClr val="5B6BD8">
              <a:alpha val="54000"/>
            </a:srgbClr>
          </a:solidFill>
          <a:ln w="12700">
            <a:solidFill>
              <a:srgbClr val="5B6B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82829" y="4343400"/>
            <a:ext cx="310896" cy="310896"/>
          </a:xfrm>
          <a:prstGeom prst="ellipse">
            <a:avLst/>
          </a:prstGeom>
          <a:solidFill>
            <a:srgbClr val="5B6BD8">
              <a:alpha val="50000"/>
            </a:srgbClr>
          </a:solidFill>
          <a:ln w="12700">
            <a:solidFill>
              <a:srgbClr val="5B6B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6698" y="4937760"/>
            <a:ext cx="164592" cy="164592"/>
          </a:xfrm>
          <a:prstGeom prst="ellipse">
            <a:avLst/>
          </a:prstGeom>
          <a:solidFill>
            <a:srgbClr val="5B6BD8">
              <a:alpha val="46000"/>
            </a:srgbClr>
          </a:solidFill>
          <a:ln w="12700">
            <a:solidFill>
              <a:srgbClr val="5B6B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7382 COMPUTER GRAPHICS  ·  SPRING 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554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View Synthesis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8C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NeRFs to Gaussian Splats to Gaussian Ray Tracing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1371600" cy="0"/>
          </a:xfrm>
          <a:prstGeom prst="line">
            <a:avLst/>
          </a:prstGeom>
          <a:noFill/>
          <a:ln w="38100">
            <a:solidFill>
              <a:srgbClr val="F299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D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six-year arc of research, 2020 to 2026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Oni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5212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920240"/>
            <a:ext cx="5212080" cy="164592"/>
          </a:xfrm>
          <a:prstGeom prst="rect">
            <a:avLst/>
          </a:prstGeom>
          <a:solidFill>
            <a:srgbClr val="4B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WE HAVE BEEN DOING 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synthetic camera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scene from scratch.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geometry, materials, and lights, then point a virtual camera at it.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every assignment in this course has used so far, from the tetrahedron to the articulated horse on terrain.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1920240"/>
            <a:ext cx="5212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20240"/>
            <a:ext cx="5212080" cy="164592"/>
          </a:xfrm>
          <a:prstGeom prst="rect">
            <a:avLst/>
          </a:prstGeom>
          <a:solidFill>
            <a:srgbClr val="F29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PAPERS PROPOSE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12280" y="2606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scene from photos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12280" y="329184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mesh, no manual lights.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stack of real photos, learn a representation that lets you render any new viewpoint.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VR walkthroughs, film, robotics, mapping, and digital twins of real places.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shift the next three papers all push on.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7382 Computer Graphics  ·  Spring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BIG ADVANCE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(2020): the scene as a function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0" y="502920"/>
            <a:ext cx="2926080" cy="502920"/>
          </a:xfrm>
          <a:prstGeom prst="rect">
            <a:avLst/>
          </a:prstGeom>
          <a:solidFill>
            <a:srgbClr val="ECF0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0" y="566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Mildenhall et al., ECCV 2020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1B1F3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algn="ctr"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x, y, z, θ, φ</a:t>
            </a:r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 →  (</a:t>
            </a:r>
            <a:pPr algn="ctr" indent="0" marL="0">
              <a:buNone/>
            </a:pPr>
            <a:r>
              <a:rPr lang="en-US" sz="3600" dirty="0">
                <a:solidFill>
                  <a:srgbClr val="C8C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RGB, density</a:t>
            </a:r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411480" cy="411480"/>
          </a:xfrm>
          <a:prstGeom prst="ellipse">
            <a:avLst/>
          </a:prstGeom>
          <a:solidFill>
            <a:srgbClr val="5B6B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inputs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40690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for the 3D location, two for the viewing direction.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3657600"/>
            <a:ext cx="411480" cy="411480"/>
          </a:xfrm>
          <a:prstGeom prst="ellipse">
            <a:avLst/>
          </a:prstGeom>
          <a:solidFill>
            <a:srgbClr val="5B6B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outputs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40690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color and a density value at that point.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3657600"/>
            <a:ext cx="411480" cy="411480"/>
          </a:xfrm>
          <a:prstGeom prst="ellipse">
            <a:avLst/>
          </a:prstGeom>
          <a:solidFill>
            <a:srgbClr val="5B6B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MLP weights are the scene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5360" y="40690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mesh stored anywhere. The whole 3D world lives inside a small neural network.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a real reset in how a 3D scene could be represented.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7382 Computer Graphics  ·  Spring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NeRF renders one pixel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73152" cy="777240"/>
          </a:xfrm>
          <a:prstGeom prst="rect">
            <a:avLst/>
          </a:prstGeom>
          <a:solidFill>
            <a:srgbClr val="5B6B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a ray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ray from the eye through the pixel into the scene.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73152" cy="777240"/>
          </a:xfrm>
          <a:prstGeom prst="rect">
            <a:avLst/>
          </a:prstGeom>
          <a:solidFill>
            <a:srgbClr val="5B6B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2651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along the ray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97280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number of points along that ray, both coarse and fine sampling.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73152" cy="777240"/>
          </a:xfrm>
          <a:prstGeom prst="rect">
            <a:avLst/>
          </a:prstGeom>
          <a:solidFill>
            <a:srgbClr val="5B6B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3611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MLP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97280" y="3977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sample, ask the network for color and density given the position and view direction.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73152" cy="777240"/>
          </a:xfrm>
          <a:prstGeom prst="rect">
            <a:avLst/>
          </a:prstGeom>
          <a:solidFill>
            <a:srgbClr val="5B6B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4572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97280" y="4937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using volume rendering, similar to how a participating-media ray tracer works.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1691640"/>
            <a:ext cx="49377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3840480"/>
            <a:ext cx="274320" cy="274320"/>
          </a:xfrm>
          <a:prstGeom prst="ellipse">
            <a:avLst/>
          </a:prstGeom>
          <a:solidFill>
            <a:srgbClr val="1B1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4142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46720" y="2971800"/>
            <a:ext cx="0" cy="2011680"/>
          </a:xfrm>
          <a:prstGeom prst="line">
            <a:avLst/>
          </a:prstGeom>
          <a:noFill/>
          <a:ln w="25400">
            <a:solidFill>
              <a:srgbClr val="4B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2606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23760" y="3977640"/>
            <a:ext cx="402336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89920" y="3867912"/>
            <a:ext cx="18288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13648" y="3904488"/>
            <a:ext cx="146304" cy="146304"/>
          </a:xfrm>
          <a:prstGeom prst="ellipse">
            <a:avLst/>
          </a:prstGeom>
          <a:solidFill>
            <a:srgbClr val="5B6BD8">
              <a:alpha val="70000"/>
            </a:srgbClr>
          </a:solidFill>
          <a:ln w="12700">
            <a:solidFill>
              <a:srgbClr val="5B6B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87968" y="3904488"/>
            <a:ext cx="146304" cy="146304"/>
          </a:xfrm>
          <a:prstGeom prst="ellipse">
            <a:avLst/>
          </a:prstGeom>
          <a:solidFill>
            <a:srgbClr val="5B6BD8">
              <a:alpha val="65000"/>
            </a:srgbClr>
          </a:solidFill>
          <a:ln w="12700">
            <a:solidFill>
              <a:srgbClr val="5B6B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62288" y="3904488"/>
            <a:ext cx="146304" cy="146304"/>
          </a:xfrm>
          <a:prstGeom prst="ellipse">
            <a:avLst/>
          </a:prstGeom>
          <a:solidFill>
            <a:srgbClr val="5B6BD8">
              <a:alpha val="60000"/>
            </a:srgbClr>
          </a:solidFill>
          <a:ln w="12700">
            <a:solidFill>
              <a:srgbClr val="5B6B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36608" y="3904488"/>
            <a:ext cx="146304" cy="146304"/>
          </a:xfrm>
          <a:prstGeom prst="ellipse">
            <a:avLst/>
          </a:prstGeom>
          <a:solidFill>
            <a:srgbClr val="5B6BD8">
              <a:alpha val="55000"/>
            </a:srgbClr>
          </a:solidFill>
          <a:ln w="12700">
            <a:solidFill>
              <a:srgbClr val="5B6B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10928" y="3904488"/>
            <a:ext cx="146304" cy="146304"/>
          </a:xfrm>
          <a:prstGeom prst="ellipse">
            <a:avLst/>
          </a:prstGeom>
          <a:solidFill>
            <a:srgbClr val="5B6BD8">
              <a:alpha val="50000"/>
            </a:srgbClr>
          </a:solidFill>
          <a:ln w="12700">
            <a:solidFill>
              <a:srgbClr val="5B6B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85248" y="3904488"/>
            <a:ext cx="146304" cy="146304"/>
          </a:xfrm>
          <a:prstGeom prst="ellipse">
            <a:avLst/>
          </a:prstGeom>
          <a:solidFill>
            <a:srgbClr val="5B6BD8">
              <a:alpha val="45000"/>
            </a:srgbClr>
          </a:solidFill>
          <a:ln w="12700">
            <a:solidFill>
              <a:srgbClr val="5B6B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59568" y="3904488"/>
            <a:ext cx="146304" cy="146304"/>
          </a:xfrm>
          <a:prstGeom prst="ellipse">
            <a:avLst/>
          </a:prstGeom>
          <a:solidFill>
            <a:srgbClr val="5B6BD8">
              <a:alpha val="40000"/>
            </a:srgbClr>
          </a:solidFill>
          <a:ln w="12700">
            <a:solidFill>
              <a:srgbClr val="5B6B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33888" y="3904488"/>
            <a:ext cx="146304" cy="146304"/>
          </a:xfrm>
          <a:prstGeom prst="ellipse">
            <a:avLst/>
          </a:prstGeom>
          <a:solidFill>
            <a:srgbClr val="5B6BD8">
              <a:alpha val="35000"/>
            </a:srgbClr>
          </a:solidFill>
          <a:ln w="12700">
            <a:solidFill>
              <a:srgbClr val="5B6B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08208" y="3904488"/>
            <a:ext cx="146304" cy="146304"/>
          </a:xfrm>
          <a:prstGeom prst="ellipse">
            <a:avLst/>
          </a:prstGeom>
          <a:solidFill>
            <a:srgbClr val="5B6BD8">
              <a:alpha val="30000"/>
            </a:srgbClr>
          </a:solidFill>
          <a:ln w="12700">
            <a:solidFill>
              <a:srgbClr val="5B6B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082528" y="3904488"/>
            <a:ext cx="146304" cy="146304"/>
          </a:xfrm>
          <a:prstGeom prst="ellipse">
            <a:avLst/>
          </a:prstGeom>
          <a:solidFill>
            <a:srgbClr val="5B6BD8">
              <a:alpha val="25000"/>
            </a:srgbClr>
          </a:solidFill>
          <a:ln w="12700">
            <a:solidFill>
              <a:srgbClr val="5B6B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4251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points (queried by the MLP)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875520" y="2880360"/>
            <a:ext cx="1463040" cy="2286000"/>
          </a:xfrm>
          <a:prstGeom prst="ellipse">
            <a:avLst/>
          </a:prstGeom>
          <a:solidFill>
            <a:srgbClr val="5B6BD8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49840" y="3611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40880" y="5440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pixel color = ∑ (color × weight) along the ray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7382 Computer Graphics  ·  Spring 2026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NeRF got right, and what it cost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1FAA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Photorealistic novel views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View-dependent effects like specular highlights came out naturally.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representation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scene fits in a few megabytes of MLP weights.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field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mesh resolution to pick. The scene is defined everywhere.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103120"/>
            <a:ext cx="502920" cy="50292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training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on a single GPU per scene in the original paper.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rendering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seconds per frame. Real-time interaction was out of reach.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edit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an object inside the MLP? Not really possible without retraining.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tradeoffs set up almost every paper that came after.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7382 Computer Graphics  ·  Spring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NeRFs evolved, 2021 to 2022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10332720" cy="0"/>
          </a:xfrm>
          <a:prstGeom prst="line">
            <a:avLst/>
          </a:prstGeom>
          <a:noFill/>
          <a:ln w="38100">
            <a:solidFill>
              <a:srgbClr val="DD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057400"/>
            <a:ext cx="274320" cy="274320"/>
          </a:xfrm>
          <a:prstGeom prst="ellipse">
            <a:avLst/>
          </a:prstGeom>
          <a:solidFill>
            <a:srgbClr val="5B6BD8"/>
          </a:solidFill>
          <a:ln w="38100">
            <a:solidFill>
              <a:srgbClr val="F8F9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2560320"/>
            <a:ext cx="2286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Mildenhall et al., ECCV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3886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but a paradigm shift.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2057400"/>
            <a:ext cx="274320" cy="274320"/>
          </a:xfrm>
          <a:prstGeom prst="ellipse">
            <a:avLst/>
          </a:prstGeom>
          <a:solidFill>
            <a:srgbClr val="5B6BD8"/>
          </a:solidFill>
          <a:ln w="38100">
            <a:solidFill>
              <a:srgbClr val="F8F9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2560320"/>
            <a:ext cx="2286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Mip-NeRF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2608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Barron et al., ICCV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2608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Anti-aliasing.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3886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Cone-shaped queries instead of point queries fix aliasing across scales.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057400"/>
            <a:ext cx="274320" cy="274320"/>
          </a:xfrm>
          <a:prstGeom prst="ellipse">
            <a:avLst/>
          </a:prstGeom>
          <a:solidFill>
            <a:srgbClr val="5B6BD8"/>
          </a:solidFill>
          <a:ln w="38100">
            <a:solidFill>
              <a:srgbClr val="F8F9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40680" y="2560320"/>
            <a:ext cx="2286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Instant-NGP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3212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Müller et al., ACM TOG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3212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 seconds.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32120" y="3886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multiresolution hash grid replaces most of the MLP work.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52560" y="2057400"/>
            <a:ext cx="274320" cy="274320"/>
          </a:xfrm>
          <a:prstGeom prst="ellipse">
            <a:avLst/>
          </a:prstGeom>
          <a:solidFill>
            <a:srgbClr val="5B6BD8"/>
          </a:solidFill>
          <a:ln w="38100">
            <a:solidFill>
              <a:srgbClr val="F8F9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964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2560320"/>
            <a:ext cx="2286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Mip-NeRF 360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13816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Barron et al., CVPR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816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scenes.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38160" y="3886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scenes with the camera looking in any direction.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hybrid representations that mix neural networks with explicit data structures.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7382 Computer Graphics  ·  Spring 2026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BIG ADVANCE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Gaussian Splatting (2023): a reset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0" y="502920"/>
            <a:ext cx="2926080" cy="502920"/>
          </a:xfrm>
          <a:prstGeom prst="rect">
            <a:avLst/>
          </a:prstGeom>
          <a:solidFill>
            <a:srgbClr val="ECF0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0" y="566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Kerbl et al., SIGGRAPH 2023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out the MLP. Use millions of explicit 3D Gaussians instead.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5486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scene as a cloud of Gaussians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85736" y="4550965"/>
            <a:ext cx="374866" cy="300250"/>
          </a:xfrm>
          <a:prstGeom prst="ellipse">
            <a:avLst/>
          </a:prstGeom>
          <a:solidFill>
            <a:srgbClr val="5B6BD8">
              <a:alpha val="39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487287" y="4988457"/>
            <a:ext cx="476948" cy="397226"/>
          </a:xfrm>
          <a:prstGeom prst="ellipse">
            <a:avLst/>
          </a:prstGeom>
          <a:solidFill>
            <a:srgbClr val="F2994A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088838" y="5425948"/>
            <a:ext cx="213269" cy="184424"/>
          </a:xfrm>
          <a:prstGeom prst="ellipse">
            <a:avLst/>
          </a:prstGeom>
          <a:solidFill>
            <a:srgbClr val="8B95E0">
              <a:alpha val="3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690389" y="3668879"/>
            <a:ext cx="315350" cy="282757"/>
          </a:xfrm>
          <a:prstGeom prst="ellipse">
            <a:avLst/>
          </a:prstGeom>
          <a:solidFill>
            <a:srgbClr val="F2C094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291940" y="4106371"/>
            <a:ext cx="417432" cy="387602"/>
          </a:xfrm>
          <a:prstGeom prst="ellipse">
            <a:avLst/>
          </a:prstGeom>
          <a:solidFill>
            <a:srgbClr val="4FA8B8">
              <a:alpha val="3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893490" y="4543862"/>
            <a:ext cx="153753" cy="147670"/>
          </a:xfrm>
          <a:prstGeom prst="ellipse">
            <a:avLst/>
          </a:prstGeom>
          <a:solidFill>
            <a:srgbClr val="5B6BD8">
              <a:alpha val="33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495041" y="4981354"/>
            <a:ext cx="255834" cy="253873"/>
          </a:xfrm>
          <a:prstGeom prst="ellipse">
            <a:avLst/>
          </a:prstGeom>
          <a:solidFill>
            <a:srgbClr val="F2994A">
              <a:alpha val="31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7392" y="5418845"/>
            <a:ext cx="357916" cy="366588"/>
          </a:xfrm>
          <a:prstGeom prst="ellipse">
            <a:avLst/>
          </a:prstGeom>
          <a:solidFill>
            <a:srgbClr val="8B95E0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68943" y="3661777"/>
            <a:ext cx="459997" cy="485814"/>
          </a:xfrm>
          <a:prstGeom prst="ellipse">
            <a:avLst/>
          </a:prstGeom>
          <a:solidFill>
            <a:srgbClr val="F2C094">
              <a:alpha val="59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270493" y="4099268"/>
            <a:ext cx="196318" cy="213599"/>
          </a:xfrm>
          <a:prstGeom prst="ellipse">
            <a:avLst/>
          </a:prstGeom>
          <a:solidFill>
            <a:srgbClr val="4FA8B8">
              <a:alpha val="5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872044" y="4536760"/>
            <a:ext cx="298400" cy="334183"/>
          </a:xfrm>
          <a:prstGeom prst="ellipse">
            <a:avLst/>
          </a:prstGeom>
          <a:solidFill>
            <a:srgbClr val="5B6BD8">
              <a:alpha val="57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473595" y="4974251"/>
            <a:ext cx="400481" cy="461280"/>
          </a:xfrm>
          <a:prstGeom prst="ellipse">
            <a:avLst/>
          </a:prstGeom>
          <a:solidFill>
            <a:srgbClr val="F2994A">
              <a:alpha val="5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075146" y="5411743"/>
            <a:ext cx="502563" cy="594889"/>
          </a:xfrm>
          <a:prstGeom prst="ellipse">
            <a:avLst/>
          </a:prstGeom>
          <a:solidFill>
            <a:srgbClr val="8B95E0">
              <a:alpha val="5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76697" y="3654674"/>
            <a:ext cx="238884" cy="290389"/>
          </a:xfrm>
          <a:prstGeom prst="ellipse">
            <a:avLst/>
          </a:prstGeom>
          <a:solidFill>
            <a:srgbClr val="F2C094">
              <a:alpha val="53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278247" y="4092166"/>
            <a:ext cx="340965" cy="425355"/>
          </a:xfrm>
          <a:prstGeom prst="ellipse">
            <a:avLst/>
          </a:prstGeom>
          <a:solidFill>
            <a:srgbClr val="4FA8B8">
              <a:alpha val="5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50598" y="4529657"/>
            <a:ext cx="443047" cy="566834"/>
          </a:xfrm>
          <a:prstGeom prst="ellipse">
            <a:avLst/>
          </a:prstGeom>
          <a:solidFill>
            <a:srgbClr val="5B6BD8">
              <a:alpha val="51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452149" y="4967149"/>
            <a:ext cx="179368" cy="235204"/>
          </a:xfrm>
          <a:prstGeom prst="ellipse">
            <a:avLst/>
          </a:prstGeom>
          <a:solidFill>
            <a:srgbClr val="F2994A">
              <a:alpha val="49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053700" y="5404640"/>
            <a:ext cx="281449" cy="378041"/>
          </a:xfrm>
          <a:prstGeom prst="ellipse">
            <a:avLst/>
          </a:prstGeom>
          <a:solidFill>
            <a:srgbClr val="8B95E0">
              <a:alpha val="4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55251" y="3647572"/>
            <a:ext cx="383531" cy="527389"/>
          </a:xfrm>
          <a:prstGeom prst="ellipse">
            <a:avLst/>
          </a:prstGeom>
          <a:solidFill>
            <a:srgbClr val="F2C094">
              <a:alpha val="47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56801" y="4085063"/>
            <a:ext cx="485612" cy="294759"/>
          </a:xfrm>
          <a:prstGeom prst="ellipse">
            <a:avLst/>
          </a:prstGeom>
          <a:solidFill>
            <a:srgbClr val="4FA8B8">
              <a:alpha val="46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58352" y="4522555"/>
            <a:ext cx="221933" cy="141789"/>
          </a:xfrm>
          <a:prstGeom prst="ellipse">
            <a:avLst/>
          </a:prstGeom>
          <a:solidFill>
            <a:srgbClr val="5B6BD8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59903" y="4960046"/>
            <a:ext cx="324015" cy="217342"/>
          </a:xfrm>
          <a:prstGeom prst="ellipse">
            <a:avLst/>
          </a:prstGeom>
          <a:solidFill>
            <a:srgbClr val="F2994A">
              <a:alpha val="4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061454" y="5397538"/>
            <a:ext cx="426096" cy="299407"/>
          </a:xfrm>
          <a:prstGeom prst="ellipse">
            <a:avLst/>
          </a:prstGeom>
          <a:solidFill>
            <a:srgbClr val="8B95E0">
              <a:alpha val="4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663004" y="3640469"/>
            <a:ext cx="162417" cy="119307"/>
          </a:xfrm>
          <a:prstGeom prst="ellipse">
            <a:avLst/>
          </a:prstGeom>
          <a:solidFill>
            <a:srgbClr val="F2C094">
              <a:alpha val="41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235355" y="4077961"/>
            <a:ext cx="264499" cy="202730"/>
          </a:xfrm>
          <a:prstGeom prst="ellipse">
            <a:avLst/>
          </a:prstGeom>
          <a:solidFill>
            <a:srgbClr val="4FA8B8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836906" y="4515452"/>
            <a:ext cx="366580" cy="292664"/>
          </a:xfrm>
          <a:prstGeom prst="ellipse">
            <a:avLst/>
          </a:prstGeom>
          <a:solidFill>
            <a:srgbClr val="5B6BD8">
              <a:alpha val="39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38457" y="4952944"/>
            <a:ext cx="468661" cy="389111"/>
          </a:xfrm>
          <a:prstGeom prst="ellipse">
            <a:avLst/>
          </a:prstGeom>
          <a:solidFill>
            <a:srgbClr val="F2994A">
              <a:alpha val="3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040008" y="5390435"/>
            <a:ext cx="204983" cy="176727"/>
          </a:xfrm>
          <a:prstGeom prst="ellipse">
            <a:avLst/>
          </a:prstGeom>
          <a:solidFill>
            <a:srgbClr val="8B95E0">
              <a:alpha val="3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41558" y="3633367"/>
            <a:ext cx="307064" cy="274532"/>
          </a:xfrm>
          <a:prstGeom prst="ellipse">
            <a:avLst/>
          </a:prstGeom>
          <a:solidFill>
            <a:srgbClr val="F2C094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243109" y="4070858"/>
            <a:ext cx="409145" cy="378848"/>
          </a:xfrm>
          <a:prstGeom prst="ellipse">
            <a:avLst/>
          </a:prstGeom>
          <a:solidFill>
            <a:srgbClr val="4FA8B8">
              <a:alpha val="34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844660" y="4508349"/>
            <a:ext cx="145467" cy="139335"/>
          </a:xfrm>
          <a:prstGeom prst="ellipse">
            <a:avLst/>
          </a:prstGeom>
          <a:solidFill>
            <a:srgbClr val="5B6BD8">
              <a:alpha val="33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46211" y="4945841"/>
            <a:ext cx="247548" cy="245009"/>
          </a:xfrm>
          <a:prstGeom prst="ellipse">
            <a:avLst/>
          </a:prstGeom>
          <a:solidFill>
            <a:srgbClr val="F2994A">
              <a:alpha val="3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18562" y="5383332"/>
            <a:ext cx="349629" cy="357195"/>
          </a:xfrm>
          <a:prstGeom prst="ellipse">
            <a:avLst/>
          </a:prstGeom>
          <a:solidFill>
            <a:srgbClr val="8B95E0">
              <a:alpha val="6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620112" y="3626264"/>
            <a:ext cx="451711" cy="475893"/>
          </a:xfrm>
          <a:prstGeom prst="ellipse">
            <a:avLst/>
          </a:prstGeom>
          <a:solidFill>
            <a:srgbClr val="F2C094">
              <a:alpha val="59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2221663" y="4063755"/>
            <a:ext cx="188032" cy="204096"/>
          </a:xfrm>
          <a:prstGeom prst="ellipse">
            <a:avLst/>
          </a:prstGeom>
          <a:solidFill>
            <a:srgbClr val="4FA8B8">
              <a:alpha val="5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823214" y="4501247"/>
            <a:ext cx="290113" cy="324152"/>
          </a:xfrm>
          <a:prstGeom prst="ellipse">
            <a:avLst/>
          </a:prstGeom>
          <a:solidFill>
            <a:srgbClr val="5B6BD8">
              <a:alpha val="57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424765" y="4938738"/>
            <a:ext cx="392195" cy="450720"/>
          </a:xfrm>
          <a:prstGeom prst="ellipse">
            <a:avLst/>
          </a:prstGeom>
          <a:solidFill>
            <a:srgbClr val="F2994A">
              <a:alpha val="56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026315" y="5376230"/>
            <a:ext cx="494276" cy="583800"/>
          </a:xfrm>
          <a:prstGeom prst="ellipse">
            <a:avLst/>
          </a:prstGeom>
          <a:solidFill>
            <a:srgbClr val="8B95E0">
              <a:alpha val="5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627866" y="3619161"/>
            <a:ext cx="230598" cy="279719"/>
          </a:xfrm>
          <a:prstGeom prst="ellipse">
            <a:avLst/>
          </a:prstGeom>
          <a:solidFill>
            <a:srgbClr val="F2C094">
              <a:alpha val="53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229417" y="4056653"/>
            <a:ext cx="332679" cy="414157"/>
          </a:xfrm>
          <a:prstGeom prst="ellipse">
            <a:avLst/>
          </a:prstGeom>
          <a:solidFill>
            <a:srgbClr val="4FA8B8">
              <a:alpha val="5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830968" y="4494144"/>
            <a:ext cx="434760" cy="555106"/>
          </a:xfrm>
          <a:prstGeom prst="ellipse">
            <a:avLst/>
          </a:prstGeom>
          <a:solidFill>
            <a:srgbClr val="5B6BD8">
              <a:alpha val="51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403319" y="4931636"/>
            <a:ext cx="171082" cy="223896"/>
          </a:xfrm>
          <a:prstGeom prst="ellipse">
            <a:avLst/>
          </a:prstGeom>
          <a:solidFill>
            <a:srgbClr val="F2994A">
              <a:alpha val="5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2004869" y="5369127"/>
            <a:ext cx="273163" cy="366203"/>
          </a:xfrm>
          <a:prstGeom prst="ellipse">
            <a:avLst/>
          </a:prstGeom>
          <a:solidFill>
            <a:srgbClr val="8B95E0">
              <a:alpha val="4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2606420" y="3612059"/>
            <a:ext cx="375244" cy="515023"/>
          </a:xfrm>
          <a:prstGeom prst="ellipse">
            <a:avLst/>
          </a:prstGeom>
          <a:solidFill>
            <a:srgbClr val="F2C094">
              <a:alpha val="47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207971" y="4049550"/>
            <a:ext cx="477326" cy="288494"/>
          </a:xfrm>
          <a:prstGeom prst="ellipse">
            <a:avLst/>
          </a:prstGeom>
          <a:solidFill>
            <a:srgbClr val="4FA8B8">
              <a:alpha val="46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3809522" y="4487042"/>
            <a:ext cx="213647" cy="135942"/>
          </a:xfrm>
          <a:prstGeom prst="ellipse">
            <a:avLst/>
          </a:prstGeom>
          <a:solidFill>
            <a:srgbClr val="5B6BD8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411073" y="4924533"/>
            <a:ext cx="315728" cy="210966"/>
          </a:xfrm>
          <a:prstGeom prst="ellipse">
            <a:avLst/>
          </a:prstGeom>
          <a:solidFill>
            <a:srgbClr val="F2994A">
              <a:alpha val="44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5012623" y="5362025"/>
            <a:ext cx="417810" cy="292503"/>
          </a:xfrm>
          <a:prstGeom prst="ellipse">
            <a:avLst/>
          </a:prstGeom>
          <a:solidFill>
            <a:srgbClr val="8B95E0">
              <a:alpha val="42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614174" y="3604956"/>
            <a:ext cx="154131" cy="112821"/>
          </a:xfrm>
          <a:prstGeom prst="ellipse">
            <a:avLst/>
          </a:prstGeom>
          <a:solidFill>
            <a:srgbClr val="F2C094">
              <a:alpha val="41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86525" y="4042448"/>
            <a:ext cx="256212" cy="195715"/>
          </a:xfrm>
          <a:prstGeom prst="ellipse">
            <a:avLst/>
          </a:prstGeom>
          <a:solidFill>
            <a:srgbClr val="4FA8B8">
              <a:alpha val="4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400800" y="2834640"/>
            <a:ext cx="5303520" cy="3108960"/>
          </a:xfrm>
          <a:prstGeom prst="rect">
            <a:avLst/>
          </a:prstGeom>
          <a:solidFill>
            <a:srgbClr val="1B1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940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Gaussian carries: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675120" y="3776472"/>
            <a:ext cx="164592" cy="16459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4944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77824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sits in 3D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675120" y="4279392"/>
            <a:ext cx="164592" cy="16459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4944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matrix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877824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shape and orientation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675120" y="4782312"/>
            <a:ext cx="164592" cy="16459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4944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Opacity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877824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solid it is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675120" y="5285232"/>
            <a:ext cx="164592" cy="16459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49440" y="5212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harmonics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877824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view-dependent color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primitives. No implicit network in the rendering loop.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7382 Computer Graphics  ·  Spring 2026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3DGS renders a frame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728" cy="685800"/>
          </a:xfrm>
          <a:prstGeom prst="rect">
            <a:avLst/>
          </a:prstGeom>
          <a:solidFill>
            <a:srgbClr val="F29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28800"/>
            <a:ext cx="10515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9019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49040" y="19933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SfM point cloud, place one Gaussian at each point.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79192"/>
            <a:ext cx="109728" cy="685800"/>
          </a:xfrm>
          <a:prstGeom prst="rect">
            <a:avLst/>
          </a:prstGeom>
          <a:solidFill>
            <a:srgbClr val="F29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679192"/>
            <a:ext cx="10515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17320" y="27523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284378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every Gaussian to screen space via an affine approximation.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29584"/>
            <a:ext cx="109728" cy="685800"/>
          </a:xfrm>
          <a:prstGeom prst="rect">
            <a:avLst/>
          </a:prstGeom>
          <a:solidFill>
            <a:srgbClr val="F29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529584"/>
            <a:ext cx="10515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17320" y="36027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and sort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49040" y="369417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into 16×16 pixel tiles. Sort by depth once per tile.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379976"/>
            <a:ext cx="109728" cy="685800"/>
          </a:xfrm>
          <a:prstGeom prst="rect">
            <a:avLst/>
          </a:prstGeom>
          <a:solidFill>
            <a:srgbClr val="F29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379976"/>
            <a:ext cx="10515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17320" y="4453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49040" y="45445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Alpha-blend front to back inside each tile, using shared GPU memory.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230368"/>
            <a:ext cx="109728" cy="685800"/>
          </a:xfrm>
          <a:prstGeom prst="rect">
            <a:avLst/>
          </a:prstGeom>
          <a:solidFill>
            <a:srgbClr val="F29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230368"/>
            <a:ext cx="10515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417320" y="5303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49040" y="5394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loss against the photo. Backpropagate. Update parameters.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solidFill>
            <a:srgbClr val="1B1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6016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adaptive density control: split, clone, and prune Gaussians where the gradient says detail is missing.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7382 Computer Graphics  ·  Spring 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3DGS took over the field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3611880" cy="164592"/>
          </a:xfrm>
          <a:prstGeom prst="rect">
            <a:avLst/>
          </a:prstGeom>
          <a:solidFill>
            <a:srgbClr val="5B6B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rendering on a single consumer GPU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611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828800"/>
            <a:ext cx="3611880" cy="164592"/>
          </a:xfrm>
          <a:prstGeom prst="rect">
            <a:avLst/>
          </a:prstGeom>
          <a:solidFill>
            <a:srgbClr val="5B6B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19456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days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4023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time, on the same scenes NeRF took days for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611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828800"/>
            <a:ext cx="3611880" cy="164592"/>
          </a:xfrm>
          <a:prstGeom prst="rect">
            <a:avLst/>
          </a:prstGeom>
          <a:solidFill>
            <a:srgbClr val="5B6B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19456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412480" y="3520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4023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Editable, transformable, easy to inspect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3DGS reset the baseline that every method since has had to beat.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7382 Computer Graphics  ·  Spring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AND 3DGRT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3DGS left on the 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17320" y="2011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Popping artifacts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per tile rather than per pixel can flip visibility order when the camera moves.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212080" y="2011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 approximation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5146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Screen-space projection breaks under strong perspective, like wide-angle lenses.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006840" y="2011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Pinhole only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25146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fisheye, no reflections, no global illumination. Splatting cannot do those.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4023360"/>
            <a:ext cx="0" cy="365760"/>
          </a:xfrm>
          <a:prstGeom prst="line">
            <a:avLst/>
          </a:prstGeom>
          <a:noFill/>
          <a:ln w="38100">
            <a:solidFill>
              <a:srgbClr val="F299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572000"/>
            <a:ext cx="10972800" cy="1463040"/>
          </a:xfrm>
          <a:prstGeom prst="rect">
            <a:avLst/>
          </a:prstGeom>
          <a:solidFill>
            <a:srgbClr val="1B1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709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Gaussian Ray Tracing (3DGRT)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5120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Moenne-Loccoz et al., SIGGRAPH Asia 2024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each Gaussian in a triangle proxy, build a BVH, ray-trace it. Brings reflections, distorted lenses, and proper light transport back. Cost: about nine times slower to optimize than 3DGS.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7382 Computer Graphics  ·  Spring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ADVANCE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(2026): the scaling insight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0" y="502920"/>
            <a:ext cx="3931920" cy="502920"/>
          </a:xfrm>
          <a:prstGeom prst="rect">
            <a:avLst/>
          </a:prstGeom>
          <a:solidFill>
            <a:srgbClr val="ECF0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5669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Poirier-Ginter, Lalonde, Drettakis (2026)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SPLATTING SCALES LINEARLY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grows with the number of Gaussians per tile. Smaller, denser primitives do not help.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 per pixel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TRACING SCALES WITH HITS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3774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grows with actual ray-Gaussian intersections. With small enough primitives, it can be logarithmic.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33832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1FA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O(log n) per pixel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40080" y="4480560"/>
            <a:ext cx="11155680" cy="1691640"/>
          </a:xfrm>
          <a:prstGeom prst="rect">
            <a:avLst/>
          </a:prstGeom>
          <a:solidFill>
            <a:srgbClr val="1B1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617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OVERLOOKED CONSEQUENCE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937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Smaller, denser Gaussians slow splatting down but speed ray tracing up.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" y="5440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if you initialize a scene with millions of tiny Gaussians instead of building up from a sparse cloud, ray tracing actually gets faster, while splatting gets slower. That is the core finding.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7382 Computer Graphics  ·  Spring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GRay actually does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91440" cy="1417320"/>
          </a:xfrm>
          <a:prstGeom prst="rect">
            <a:avLst/>
          </a:prstGeom>
          <a:solidFill>
            <a:srgbClr val="F29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Initialization (DI)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from EDGS. Spawn millions of small Gaussians from learned image matches at the start, instead of growing from a sparse SfM cloud.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691640"/>
            <a:ext cx="91440" cy="1417320"/>
          </a:xfrm>
          <a:prstGeom prst="rect">
            <a:avLst/>
          </a:prstGeom>
          <a:solidFill>
            <a:srgbClr val="F29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Oriented Bounding Boxes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1945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icosahedron proxies with OBBs so the BVH is fast to update. Critical when you start with millions of primitives.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46120"/>
            <a:ext cx="91440" cy="1417320"/>
          </a:xfrm>
          <a:prstGeom prst="rect">
            <a:avLst/>
          </a:prstGeom>
          <a:solidFill>
            <a:srgbClr val="F29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558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Detached Hybrid Transparency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7490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the contribution of skipped Gaussians during early ray termination, so training stays stable at high truncation thresholds.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24612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246120"/>
            <a:ext cx="91440" cy="1417320"/>
          </a:xfrm>
          <a:prstGeom prst="rect">
            <a:avLst/>
          </a:prstGeom>
          <a:solidFill>
            <a:srgbClr val="F29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3558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Per-Pixel Linked Lists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7490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BVH traversal per ray, then replay through a linked list. Avoids the redundant traversals 3DGRT needed.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800600"/>
            <a:ext cx="91440" cy="1417320"/>
          </a:xfrm>
          <a:prstGeom prst="rect">
            <a:avLst/>
          </a:prstGeom>
          <a:solidFill>
            <a:srgbClr val="F29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10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Weight-Based Pruning + Scale Decay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53035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Aggressively prune Gaussians whose accumulated weight stays low. Decay scales every step to keep primitives small.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480060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4800600"/>
            <a:ext cx="91440" cy="1417320"/>
          </a:xfrm>
          <a:prstGeom prst="rect">
            <a:avLst/>
          </a:prstGeom>
          <a:solidFill>
            <a:srgbClr val="F29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910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iterations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53035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init converges faster, so 15K iterations instead of 30K, with adjusted learning rate schedules.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7382 Computer Graphics  ·  Spring 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  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 Time  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 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LPIPS  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06:18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AA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3DGRT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55:01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29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 (this paper)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AA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AA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05:40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AA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069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over the 13 standard 3DGS evaluation scenes. Source: Poirier-Ginter et al. 2026, Fig. 1.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457200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50749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matches 3DGS on FPS and optimization time. About four times faster than 3DGRT.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457200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92240" y="50749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drops slightly versus 3DGS. LPIPS, the perceptual metric, actually improves.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7382 Computer Graphics  ·  Spring 2026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FORWARD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open in 2026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Splatting still wins on top-line quality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2148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and SSIM stay slightly higher with splatting in most scenes. Ray tracing mostly closes the gap on LPIPS.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54480" y="2651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cost of ray tracing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Per-pixel linked lists scale linearly with pixels. Higher-resolution scenes need very large preallocated buffers.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55448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rendering and relighting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solutions only, no standard yet. This is one of the main reasons ray tracing matters at all.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3434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55448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and time-varying scenes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current methods assume the scene does not move. Video and animation are still open.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55448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splatting and ray tracing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5623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properties the other lacks. A shared framework that switches between them seems plausible but does not yet exist.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years in, novel view synthesis is still moving fast.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7382 Computer Graphics  ·  Spring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Mildenhall, B., Srinivasan, P. P., Tancik, M., Barron, J. T., Ramamoorthi, R., Ng, R. (2020). NeRF: Representing scenes as neural radiance fields for view synthesis. European Conference on Computer Vision (ECCV).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Barron, J. T., Mildenhall, B., Tancik, M., Hedman, P., Martin-Brualla, R., Srinivasan, P. P. (2021). Mip-NeRF: A multiscale representation for anti-aliasing neural radiance fields. IEEE/CVF International Conference on Computer Vision (ICCV).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Müller, T., Evans, A., Schied, C., Keller, A. (2022). Instant neural graphics primitives with a multiresolution hash encoding. ACM Transactions on Graphics (Proc. SIGGRAPH), 41(4).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Barron, J. T., Mildenhall, B., Verbin, D., Srinivasan, P. P., Hedman, P. (2022). Mip-NeRF 360: Unbounded anti-aliased neural radiance fields. IEEE/CVF Conference on Computer Vision and Pattern Recognition (CVPR).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Kerbl, B., Kopanas, G., Leimkühler, T., Drettakis, G. (2023). 3D Gaussian splatting for real-time radiance field rendering. ACM Transactions on Graphics (Proc. SIGGRAPH), 42(4).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840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Radl, L., Steiner, M., Parger, M., Weinrauch, A., Kerbl, B., Steinberger, M. (2024). StopThePop: Sorted Gaussian splatting for view-consistent real-time rendering. ACM Transactions on Graphics (Proc. SIGGRAPH), 43(4).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297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Moenne-Loccoz, N., Mirzaei, A., Perel, O., de Lutio, R., Martinez Esturo, J., State, G., Fidler, S., Sharp, N., Gojcic, Z. (2024). 3D Gaussian ray tracing: Fast tracing of particle scenes. ACM Transactions on Graphics (Proc. SIGGRAPH Asia).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754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Wu, Q., Martinez Esturo, J., Mirzaei, A., Moenne-Loccoz, N., Gojcic, Z. (2025). 3DGUT: Enabling distorted cameras and secondary rays in Gaussian splatting. IEEE/CVF Conference on Computer Vision and Pattern Recognition (CVPR).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5212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Poirier-Ginter, Y., Lalonde, J.-F., Drettakis, G. (2026). GRay: Ray tracing 3D Gaussians near the speed of splats. Proceedings of the ACM on Computer Graphics and Interactive Techniques, 9(1).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sources are peer-reviewed conference or journal publications. arXiv-only preprints have been excluded.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7382 Computer Graphics  ·  Spring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Novel View Synthesis: From NeRFs to Gaussian Splats to GRay</dc:title>
  <dc:subject>PptxGenJS Presentation</dc:subject>
  <dc:creator>Daniel Oni</dc:creator>
  <cp:lastModifiedBy>Daniel Oni</cp:lastModifiedBy>
  <cp:revision>1</cp:revision>
  <dcterms:created xsi:type="dcterms:W3CDTF">2026-10-27T16:52:15Z</dcterms:created>
  <dcterms:modified xsi:type="dcterms:W3CDTF">2026-10-27T16:52:15Z</dcterms:modified>
</cp:coreProperties>
</file>